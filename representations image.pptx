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1C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63" autoAdjust="0"/>
    <p:restoredTop sz="94660"/>
  </p:normalViewPr>
  <p:slideViewPr>
    <p:cSldViewPr snapToGrid="0">
      <p:cViewPr>
        <p:scale>
          <a:sx n="75" d="100"/>
          <a:sy n="75" d="100"/>
        </p:scale>
        <p:origin x="618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C1F51-8E4F-4E5B-B98C-042184E4D3EC}" type="datetimeFigureOut">
              <a:rPr lang="nl-NL" smtClean="0"/>
              <a:t>16-3-2026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7083C-E1A1-4EE3-8924-0DC9FD7DE75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333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7083C-E1A1-4EE3-8924-0DC9FD7DE75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0436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ED826-486D-C41C-C963-03E570BBF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193470-11ED-0BDB-81D8-1A74311696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3D602-218C-E388-05F9-0CEB1FDC4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62DF-287D-431E-B338-DA766D8B3B6C}" type="datetimeFigureOut">
              <a:rPr lang="nl-NL" smtClean="0"/>
              <a:t>16-3-2026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04A4E-7644-8566-EF04-AEC3797A8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2A843-358F-110B-0D5C-65233D772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570F-B863-47E3-BF64-7813C01EE44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506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7A894-4DC4-EBF5-4F0E-9456B88EA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5E00A-DFDD-FC61-4133-B6E354965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529FC-1B0A-2B08-7ADC-EAD8D9D0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62DF-287D-431E-B338-DA766D8B3B6C}" type="datetimeFigureOut">
              <a:rPr lang="nl-NL" smtClean="0"/>
              <a:t>16-3-2026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D40BA-DBB3-35F0-940A-81179A274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793EC-59AB-0F51-AB02-E8CFB9013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570F-B863-47E3-BF64-7813C01EE44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4603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C8201-E7CE-C567-37F4-FA8903D98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0DA1C-D9AD-D712-F2DF-C7E93BF87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CBCC8-4591-1950-FB83-E4CDCCE60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62DF-287D-431E-B338-DA766D8B3B6C}" type="datetimeFigureOut">
              <a:rPr lang="nl-NL" smtClean="0"/>
              <a:t>16-3-2026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4F1B9-9BE6-0889-5A9D-569088E06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110A7-8A8B-9AC0-ACC7-9087CADD8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570F-B863-47E3-BF64-7813C01EE44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6972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EA214-A9FF-5B80-F119-DF68EE551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7DDE3-CBBC-8FF6-046B-03D184DE2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0166F-E146-4E59-AA9E-39B97C3F8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DED94-6175-A0DD-9AE9-338192FCA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62DF-287D-431E-B338-DA766D8B3B6C}" type="datetimeFigureOut">
              <a:rPr lang="nl-NL" smtClean="0"/>
              <a:t>16-3-2026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39CD3-6AB3-034C-9585-7B619CA31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6609C-8A69-4EAD-44C1-78A04DE8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570F-B863-47E3-BF64-7813C01EE44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25280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F2433-44EA-5B13-2315-3457F0D2C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9A231-2458-CC00-9006-3B63893FE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D0029-9D74-2F75-E9E5-258E3E7D0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AC857-486A-0DF0-753B-A6C8E6192C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46C41D-CB45-A8FC-0E31-A3AE2F869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4A9AAC-B3FD-03F4-758A-843867528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62DF-287D-431E-B338-DA766D8B3B6C}" type="datetimeFigureOut">
              <a:rPr lang="nl-NL" smtClean="0"/>
              <a:t>16-3-2026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AB1627-9784-7504-9B1C-9483B74A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ADA99A-AEA6-2066-5121-0F4DD7D5C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570F-B863-47E3-BF64-7813C01EE44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9217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130DC-C5BD-7373-1527-1D923920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2FBC73-F17B-531F-4A70-E5AC85EAA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62DF-287D-431E-B338-DA766D8B3B6C}" type="datetimeFigureOut">
              <a:rPr lang="nl-NL" smtClean="0"/>
              <a:t>16-3-2026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3398B-25BB-3761-37C7-025CCF3D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993C2-CF45-B0F1-626F-24916653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570F-B863-47E3-BF64-7813C01EE44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60939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D590A0-4044-5390-3636-0EF11694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62DF-287D-431E-B338-DA766D8B3B6C}" type="datetimeFigureOut">
              <a:rPr lang="nl-NL" smtClean="0"/>
              <a:t>16-3-2026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BE719A-D2F4-A5B6-6479-424218A9D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61787-458A-B825-EFD4-5226CD359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570F-B863-47E3-BF64-7813C01EE44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1072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D1AFE-E067-8A1B-0605-FFC090BAB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158DA-8B8E-A51D-18FE-D30F9CF40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C97687-8DB4-C5C5-1720-FA0FE770F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69EB4-2A60-132D-AECF-C2A11364C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62DF-287D-431E-B338-DA766D8B3B6C}" type="datetimeFigureOut">
              <a:rPr lang="nl-NL" smtClean="0"/>
              <a:t>16-3-2026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B13CF-3BBB-5EEC-B9FD-5C13F538C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5F9AD-5265-68CE-36E4-CA50B288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570F-B863-47E3-BF64-7813C01EE44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89157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475DF-DA13-8242-4CFD-B843538DF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235B65-F76A-01D1-45C8-37B4AB81A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75BC3-836D-F839-E918-B376AB904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DAF21-3640-BF6C-9BA4-2D03EA0D9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62DF-287D-431E-B338-DA766D8B3B6C}" type="datetimeFigureOut">
              <a:rPr lang="nl-NL" smtClean="0"/>
              <a:t>16-3-2026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E93EC-C4D0-0941-8BC6-CB06578E8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F4D7D-3330-EDEE-9080-4435182F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570F-B863-47E3-BF64-7813C01EE44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4660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B02CA-A017-6041-F6BE-EED6692DA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7A1F42-5702-B060-9F9D-03C608FE5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F81F7-6E7D-20C3-1E21-5CD9A776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62DF-287D-431E-B338-DA766D8B3B6C}" type="datetimeFigureOut">
              <a:rPr lang="nl-NL" smtClean="0"/>
              <a:t>16-3-2026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66041-E479-3F59-94D8-4CB1FDD9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4ADAC-09F0-426A-E06F-70D1FCEAC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570F-B863-47E3-BF64-7813C01EE44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3472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56A3F5-6F1B-403A-015F-4C0BA39FD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563FDC-82CE-C40C-0837-BF6EC3D0F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05C9B-DAED-366B-ADE4-4185564C8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62DF-287D-431E-B338-DA766D8B3B6C}" type="datetimeFigureOut">
              <a:rPr lang="nl-NL" smtClean="0"/>
              <a:t>16-3-2026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2AEB3-99B6-C1DD-4F36-C4E67C52E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1A869-AB1C-14A1-6788-FBBA03F52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A570F-B863-47E3-BF64-7813C01EE44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2110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780E2-8354-1E7B-B13E-5CF8BB912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18508-3AC5-8E41-260C-AE0B61E04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FEC34-D95C-4584-AAA6-196389548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662DF-287D-431E-B338-DA766D8B3B6C}" type="datetimeFigureOut">
              <a:rPr lang="nl-NL" smtClean="0"/>
              <a:t>16-3-2026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82680-06E6-7607-A141-B7FC1B9F2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FED8E-6BE5-6AD1-BAC1-4628775130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A570F-B863-47E3-BF64-7813C01EE44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190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6CAF991-378A-2A3C-D3BC-0A51F3BEEFD7}"/>
              </a:ext>
            </a:extLst>
          </p:cNvPr>
          <p:cNvSpPr txBox="1"/>
          <p:nvPr/>
        </p:nvSpPr>
        <p:spPr>
          <a:xfrm>
            <a:off x="0" y="394692"/>
            <a:ext cx="4191000" cy="72943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"size"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"columns"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3,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"rows"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3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"start"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0,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0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"end"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2,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2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"grid"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"walls"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"N"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"E"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"W"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endParaRPr lang="nl-NL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},</a:t>
            </a:r>
          </a:p>
          <a:p>
            <a:endParaRPr lang="nl-N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NL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NL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A7845E-44F6-D136-C07F-C10BE17A5004}"/>
              </a:ext>
            </a:extLst>
          </p:cNvPr>
          <p:cNvSpPr txBox="1"/>
          <p:nvPr/>
        </p:nvSpPr>
        <p:spPr>
          <a:xfrm>
            <a:off x="712470" y="-184666"/>
            <a:ext cx="276606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JSON – Line-walled maze</a:t>
            </a:r>
            <a:endParaRPr lang="nl-NL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89ADDF-B53F-6B08-4EC7-8691ED45CA34}"/>
              </a:ext>
            </a:extLst>
          </p:cNvPr>
          <p:cNvSpPr txBox="1"/>
          <p:nvPr/>
        </p:nvSpPr>
        <p:spPr>
          <a:xfrm>
            <a:off x="4191000" y="394692"/>
            <a:ext cx="3524250" cy="72943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"size"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"columns"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3,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"rows"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3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"start"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0,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0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"end"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2,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2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"grid"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"node"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0,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0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"neighbors"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1,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0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]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]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},</a:t>
            </a:r>
            <a:endParaRPr lang="nl-N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41E926-75FD-FDED-84A9-F4A49EFF99F7}"/>
              </a:ext>
            </a:extLst>
          </p:cNvPr>
          <p:cNvSpPr txBox="1"/>
          <p:nvPr/>
        </p:nvSpPr>
        <p:spPr>
          <a:xfrm>
            <a:off x="4299108" y="-323166"/>
            <a:ext cx="330803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Adjacency list JSON – Both maze styles</a:t>
            </a:r>
            <a:endParaRPr lang="nl-NL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574DBD-E245-D609-9FB4-0AE2B051F383}"/>
              </a:ext>
            </a:extLst>
          </p:cNvPr>
          <p:cNvSpPr txBox="1"/>
          <p:nvPr/>
        </p:nvSpPr>
        <p:spPr>
          <a:xfrm>
            <a:off x="7715250" y="394692"/>
            <a:ext cx="3199924" cy="72943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"size"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"columns"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7,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"rows"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7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"start"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1,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1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"end"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5,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5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"grid"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1,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1,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1,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1,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1,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1,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1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],</a:t>
            </a:r>
          </a:p>
          <a:p>
            <a:endParaRPr lang="nl-N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N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N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BE7064-3862-94D1-C1E7-744E0247448F}"/>
              </a:ext>
            </a:extLst>
          </p:cNvPr>
          <p:cNvSpPr txBox="1"/>
          <p:nvPr/>
        </p:nvSpPr>
        <p:spPr>
          <a:xfrm>
            <a:off x="7661195" y="-184666"/>
            <a:ext cx="330803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JSON – Occupancy grid maze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910171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Left Brace 16">
            <a:extLst>
              <a:ext uri="{FF2B5EF4-FFF2-40B4-BE49-F238E27FC236}">
                <a16:creationId xmlns:a16="http://schemas.microsoft.com/office/drawing/2014/main" id="{632FECBC-085E-C969-3D74-BE462D922B81}"/>
              </a:ext>
            </a:extLst>
          </p:cNvPr>
          <p:cNvSpPr/>
          <p:nvPr/>
        </p:nvSpPr>
        <p:spPr>
          <a:xfrm>
            <a:off x="10791915" y="2873261"/>
            <a:ext cx="538485" cy="3435754"/>
          </a:xfrm>
          <a:prstGeom prst="leftBrace">
            <a:avLst>
              <a:gd name="adj1" fmla="val 30914"/>
              <a:gd name="adj2" fmla="val 50683"/>
            </a:avLst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976D8B-D46E-CDBC-60BD-31304A7B6DC9}"/>
              </a:ext>
            </a:extLst>
          </p:cNvPr>
          <p:cNvSpPr txBox="1"/>
          <p:nvPr/>
        </p:nvSpPr>
        <p:spPr>
          <a:xfrm>
            <a:off x="9572926" y="4167071"/>
            <a:ext cx="1838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Language expressing </a:t>
            </a:r>
            <a:r>
              <a:rPr lang="en-US" b="1" dirty="0"/>
              <a:t>frustration</a:t>
            </a:r>
            <a:endParaRPr lang="nl-NL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B50937-71E9-D3BB-B674-3CC5782B9CA2}"/>
              </a:ext>
            </a:extLst>
          </p:cNvPr>
          <p:cNvSpPr txBox="1"/>
          <p:nvPr/>
        </p:nvSpPr>
        <p:spPr>
          <a:xfrm>
            <a:off x="11508094" y="964051"/>
            <a:ext cx="1823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Introduce task</a:t>
            </a:r>
            <a:endParaRPr lang="nl-N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BC3DA6-6CFA-6981-A20C-1D68E0F8771F}"/>
              </a:ext>
            </a:extLst>
          </p:cNvPr>
          <p:cNvSpPr txBox="1"/>
          <p:nvPr/>
        </p:nvSpPr>
        <p:spPr>
          <a:xfrm>
            <a:off x="11477696" y="1615719"/>
            <a:ext cx="3401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method</a:t>
            </a:r>
            <a:endParaRPr lang="nl-NL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9EFB02-C1FD-F1C3-77EF-61D548C22234}"/>
              </a:ext>
            </a:extLst>
          </p:cNvPr>
          <p:cNvSpPr txBox="1"/>
          <p:nvPr/>
        </p:nvSpPr>
        <p:spPr>
          <a:xfrm>
            <a:off x="13012858" y="3968426"/>
            <a:ext cx="3401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 method</a:t>
            </a:r>
            <a:endParaRPr lang="nl-NL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157A55-B608-7C6F-0F11-CC132871D837}"/>
              </a:ext>
            </a:extLst>
          </p:cNvPr>
          <p:cNvSpPr txBox="1"/>
          <p:nvPr/>
        </p:nvSpPr>
        <p:spPr>
          <a:xfrm>
            <a:off x="11943163" y="5627675"/>
            <a:ext cx="3401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(Validate)</a:t>
            </a:r>
            <a:endParaRPr lang="nl-NL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0FD100-652E-7EF4-CF83-12FC73827948}"/>
              </a:ext>
            </a:extLst>
          </p:cNvPr>
          <p:cNvSpPr txBox="1"/>
          <p:nvPr/>
        </p:nvSpPr>
        <p:spPr>
          <a:xfrm>
            <a:off x="11907848" y="5938215"/>
            <a:ext cx="3401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(Summarize)</a:t>
            </a:r>
            <a:endParaRPr lang="nl-NL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B4DBB9-6D40-E928-C28C-57C8E8612D38}"/>
              </a:ext>
            </a:extLst>
          </p:cNvPr>
          <p:cNvSpPr txBox="1"/>
          <p:nvPr/>
        </p:nvSpPr>
        <p:spPr>
          <a:xfrm>
            <a:off x="15022923" y="3788737"/>
            <a:ext cx="1838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Reverse search</a:t>
            </a:r>
            <a:endParaRPr lang="nl-NL" sz="16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C5D0BC-A64C-E0BF-050B-B00A9E5CB9A3}"/>
              </a:ext>
            </a:extLst>
          </p:cNvPr>
          <p:cNvSpPr txBox="1"/>
          <p:nvPr/>
        </p:nvSpPr>
        <p:spPr>
          <a:xfrm>
            <a:off x="15022923" y="4099069"/>
            <a:ext cx="17599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Restart</a:t>
            </a:r>
            <a:endParaRPr lang="nl-NL" sz="1600" b="1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D04F184-48E1-0C26-DE63-5E1E2703366E}"/>
              </a:ext>
            </a:extLst>
          </p:cNvPr>
          <p:cNvCxnSpPr>
            <a:cxnSpLocks/>
          </p:cNvCxnSpPr>
          <p:nvPr/>
        </p:nvCxnSpPr>
        <p:spPr>
          <a:xfrm flipV="1">
            <a:off x="13296642" y="1620007"/>
            <a:ext cx="312186" cy="110345"/>
          </a:xfrm>
          <a:prstGeom prst="straightConnector1">
            <a:avLst/>
          </a:prstGeom>
          <a:ln>
            <a:solidFill>
              <a:srgbClr val="EC1CBF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840B746-8165-D435-2890-3984ACC5A4EA}"/>
              </a:ext>
            </a:extLst>
          </p:cNvPr>
          <p:cNvCxnSpPr>
            <a:cxnSpLocks/>
          </p:cNvCxnSpPr>
          <p:nvPr/>
        </p:nvCxnSpPr>
        <p:spPr>
          <a:xfrm>
            <a:off x="13297292" y="1858681"/>
            <a:ext cx="347501" cy="32137"/>
          </a:xfrm>
          <a:prstGeom prst="straightConnector1">
            <a:avLst/>
          </a:prstGeom>
          <a:ln>
            <a:solidFill>
              <a:srgbClr val="EC1CBF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5FD6AE5-F9E5-8B36-96F0-9271D7BD4380}"/>
              </a:ext>
            </a:extLst>
          </p:cNvPr>
          <p:cNvSpPr txBox="1"/>
          <p:nvPr/>
        </p:nvSpPr>
        <p:spPr>
          <a:xfrm>
            <a:off x="13589142" y="1436925"/>
            <a:ext cx="1838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Algorithm</a:t>
            </a:r>
            <a:endParaRPr lang="nl-NL" sz="16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234911-E278-5907-C7D4-8B4B7D05BC0B}"/>
              </a:ext>
            </a:extLst>
          </p:cNvPr>
          <p:cNvSpPr txBox="1"/>
          <p:nvPr/>
        </p:nvSpPr>
        <p:spPr>
          <a:xfrm>
            <a:off x="13614914" y="1742801"/>
            <a:ext cx="17599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Heuristics</a:t>
            </a:r>
            <a:endParaRPr lang="nl-NL" sz="1600" b="1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CEF1813-C5D6-D42F-BEC9-9DFDF616673A}"/>
              </a:ext>
            </a:extLst>
          </p:cNvPr>
          <p:cNvCxnSpPr/>
          <p:nvPr/>
        </p:nvCxnSpPr>
        <p:spPr>
          <a:xfrm>
            <a:off x="12238704" y="1333383"/>
            <a:ext cx="0" cy="3034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30C0C86-9CEF-B3B1-C845-6465EA169AD1}"/>
              </a:ext>
            </a:extLst>
          </p:cNvPr>
          <p:cNvCxnSpPr>
            <a:cxnSpLocks/>
          </p:cNvCxnSpPr>
          <p:nvPr/>
        </p:nvCxnSpPr>
        <p:spPr>
          <a:xfrm>
            <a:off x="12137155" y="2595388"/>
            <a:ext cx="0" cy="29958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4A85BECB-49CD-7737-1864-F9814E980E12}"/>
              </a:ext>
            </a:extLst>
          </p:cNvPr>
          <p:cNvSpPr/>
          <p:nvPr/>
        </p:nvSpPr>
        <p:spPr>
          <a:xfrm>
            <a:off x="12660943" y="2906252"/>
            <a:ext cx="983201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If struggling</a:t>
            </a:r>
            <a:endParaRPr lang="nl-NL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E9BC12F-892F-D939-6C06-75CBA23134D7}"/>
              </a:ext>
            </a:extLst>
          </p:cNvPr>
          <p:cNvSpPr/>
          <p:nvPr/>
        </p:nvSpPr>
        <p:spPr>
          <a:xfrm>
            <a:off x="11107556" y="3953651"/>
            <a:ext cx="983201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If not struggling</a:t>
            </a:r>
            <a:endParaRPr lang="nl-NL" sz="1200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C4A0CD69-8443-359B-75C1-1A2A9AF2C6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2400330" y="2615080"/>
            <a:ext cx="1440802" cy="14014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BF915737-AF32-A990-BA9D-85078D57F592}"/>
              </a:ext>
            </a:extLst>
          </p:cNvPr>
          <p:cNvCxnSpPr>
            <a:cxnSpLocks/>
          </p:cNvCxnSpPr>
          <p:nvPr/>
        </p:nvCxnSpPr>
        <p:spPr>
          <a:xfrm rot="5400000">
            <a:off x="12620994" y="4390792"/>
            <a:ext cx="1240395" cy="11604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A99E56D-5CB2-6A32-9A58-2CF448D3023C}"/>
              </a:ext>
            </a:extLst>
          </p:cNvPr>
          <p:cNvCxnSpPr>
            <a:cxnSpLocks/>
          </p:cNvCxnSpPr>
          <p:nvPr/>
        </p:nvCxnSpPr>
        <p:spPr>
          <a:xfrm flipV="1">
            <a:off x="11367810" y="2873261"/>
            <a:ext cx="3346028" cy="1452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E2E6B0D6-0853-99CC-3A5E-A134DBCEA3E0}"/>
              </a:ext>
            </a:extLst>
          </p:cNvPr>
          <p:cNvSpPr txBox="1"/>
          <p:nvPr/>
        </p:nvSpPr>
        <p:spPr>
          <a:xfrm>
            <a:off x="10719041" y="489168"/>
            <a:ext cx="3401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General Response Layout</a:t>
            </a:r>
            <a:endParaRPr lang="nl-NL" sz="2000" dirty="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9D3CAE3-0031-276A-C969-B8A3FB781E33}"/>
              </a:ext>
            </a:extLst>
          </p:cNvPr>
          <p:cNvCxnSpPr>
            <a:cxnSpLocks/>
          </p:cNvCxnSpPr>
          <p:nvPr/>
        </p:nvCxnSpPr>
        <p:spPr>
          <a:xfrm flipV="1">
            <a:off x="11367810" y="6306095"/>
            <a:ext cx="3346028" cy="1452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21E2B2B-B7E5-F3EC-A00D-9DEE3EDBE648}"/>
              </a:ext>
            </a:extLst>
          </p:cNvPr>
          <p:cNvCxnSpPr>
            <a:cxnSpLocks/>
          </p:cNvCxnSpPr>
          <p:nvPr/>
        </p:nvCxnSpPr>
        <p:spPr>
          <a:xfrm flipV="1">
            <a:off x="14750277" y="3964838"/>
            <a:ext cx="312186" cy="110345"/>
          </a:xfrm>
          <a:prstGeom prst="straightConnector1">
            <a:avLst/>
          </a:prstGeom>
          <a:ln>
            <a:solidFill>
              <a:srgbClr val="EC1CBF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4295568-FCE5-1C9C-9A0E-A76D18A67700}"/>
              </a:ext>
            </a:extLst>
          </p:cNvPr>
          <p:cNvCxnSpPr>
            <a:cxnSpLocks/>
          </p:cNvCxnSpPr>
          <p:nvPr/>
        </p:nvCxnSpPr>
        <p:spPr>
          <a:xfrm>
            <a:off x="14750277" y="4232124"/>
            <a:ext cx="347501" cy="32137"/>
          </a:xfrm>
          <a:prstGeom prst="straightConnector1">
            <a:avLst/>
          </a:prstGeom>
          <a:ln>
            <a:solidFill>
              <a:srgbClr val="EC1CBF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627D0FC-EEC7-357A-4897-00EE42C2B6F1}"/>
              </a:ext>
            </a:extLst>
          </p:cNvPr>
          <p:cNvCxnSpPr/>
          <p:nvPr/>
        </p:nvCxnSpPr>
        <p:spPr>
          <a:xfrm>
            <a:off x="12238704" y="1966880"/>
            <a:ext cx="0" cy="3034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E4D2E2C-43D4-6A78-B2B2-06DE85473F96}"/>
              </a:ext>
            </a:extLst>
          </p:cNvPr>
          <p:cNvSpPr txBox="1"/>
          <p:nvPr/>
        </p:nvSpPr>
        <p:spPr>
          <a:xfrm>
            <a:off x="11504409" y="2271041"/>
            <a:ext cx="3401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Try to solve maze</a:t>
            </a:r>
            <a:endParaRPr lang="nl-NL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917C1F9-C3C3-2352-922F-B26257ACB2CF}"/>
              </a:ext>
            </a:extLst>
          </p:cNvPr>
          <p:cNvSpPr txBox="1"/>
          <p:nvPr/>
        </p:nvSpPr>
        <p:spPr>
          <a:xfrm>
            <a:off x="2595869" y="1116451"/>
            <a:ext cx="1823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Introduce task</a:t>
            </a:r>
            <a:endParaRPr lang="nl-NL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7B0120B-B053-D183-4C61-01C617DA060F}"/>
              </a:ext>
            </a:extLst>
          </p:cNvPr>
          <p:cNvSpPr txBox="1"/>
          <p:nvPr/>
        </p:nvSpPr>
        <p:spPr>
          <a:xfrm>
            <a:off x="2565471" y="1768119"/>
            <a:ext cx="3401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method</a:t>
            </a:r>
            <a:endParaRPr lang="nl-NL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26BBDAF-613B-CB3C-7A96-A2F82518DF45}"/>
              </a:ext>
            </a:extLst>
          </p:cNvPr>
          <p:cNvSpPr txBox="1"/>
          <p:nvPr/>
        </p:nvSpPr>
        <p:spPr>
          <a:xfrm>
            <a:off x="2449601" y="3927781"/>
            <a:ext cx="185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 method</a:t>
            </a:r>
            <a:endParaRPr lang="nl-NL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0A50D87-5B30-4032-4543-36B8E6DA9992}"/>
              </a:ext>
            </a:extLst>
          </p:cNvPr>
          <p:cNvSpPr txBox="1"/>
          <p:nvPr/>
        </p:nvSpPr>
        <p:spPr>
          <a:xfrm>
            <a:off x="5094522" y="3903037"/>
            <a:ext cx="2425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(Summarize)</a:t>
            </a:r>
          </a:p>
          <a:p>
            <a:r>
              <a:rPr lang="en-US" dirty="0"/>
              <a:t>Concluding remark</a:t>
            </a:r>
            <a:endParaRPr lang="nl-NL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D7A98F4-D3E6-20D8-E256-F8BF60C30AF0}"/>
              </a:ext>
            </a:extLst>
          </p:cNvPr>
          <p:cNvSpPr txBox="1"/>
          <p:nvPr/>
        </p:nvSpPr>
        <p:spPr>
          <a:xfrm>
            <a:off x="2762097" y="4427347"/>
            <a:ext cx="30399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Restart</a:t>
            </a:r>
            <a:endParaRPr lang="nl-NL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dirty="0" err="1"/>
              <a:t>using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same</a:t>
            </a:r>
            <a:r>
              <a:rPr lang="nl-NL" sz="1600" dirty="0"/>
              <a:t> </a:t>
            </a:r>
            <a:r>
              <a:rPr lang="nl-NL" sz="1600" dirty="0" err="1"/>
              <a:t>method</a:t>
            </a:r>
            <a:endParaRPr lang="nl-NL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600" dirty="0" err="1"/>
              <a:t>using</a:t>
            </a:r>
            <a:r>
              <a:rPr lang="nl-NL" sz="1600" dirty="0"/>
              <a:t> a different </a:t>
            </a:r>
            <a:r>
              <a:rPr lang="nl-NL" sz="1600" dirty="0" err="1"/>
              <a:t>method</a:t>
            </a:r>
            <a:r>
              <a:rPr lang="nl-NL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NL" sz="1600" b="1" dirty="0" err="1"/>
              <a:t>algorithm</a:t>
            </a:r>
            <a:r>
              <a:rPr lang="nl-NL" sz="1600" b="1" dirty="0"/>
              <a:t>, heuristics, reverse search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4AB66E52-F556-7906-7EF6-077627E7A9E5}"/>
              </a:ext>
            </a:extLst>
          </p:cNvPr>
          <p:cNvCxnSpPr>
            <a:cxnSpLocks/>
          </p:cNvCxnSpPr>
          <p:nvPr/>
        </p:nvCxnSpPr>
        <p:spPr>
          <a:xfrm flipV="1">
            <a:off x="4384417" y="1772407"/>
            <a:ext cx="312186" cy="110345"/>
          </a:xfrm>
          <a:prstGeom prst="straightConnector1">
            <a:avLst/>
          </a:prstGeom>
          <a:ln>
            <a:solidFill>
              <a:srgbClr val="EC1CBF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BAB7E76F-8382-0E0E-C05F-D9ECD07DA3AA}"/>
              </a:ext>
            </a:extLst>
          </p:cNvPr>
          <p:cNvCxnSpPr>
            <a:cxnSpLocks/>
          </p:cNvCxnSpPr>
          <p:nvPr/>
        </p:nvCxnSpPr>
        <p:spPr>
          <a:xfrm>
            <a:off x="4385067" y="2011081"/>
            <a:ext cx="347501" cy="32137"/>
          </a:xfrm>
          <a:prstGeom prst="straightConnector1">
            <a:avLst/>
          </a:prstGeom>
          <a:ln>
            <a:solidFill>
              <a:srgbClr val="EC1CBF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55B27615-5601-4E21-CD5B-C7E2230102EE}"/>
              </a:ext>
            </a:extLst>
          </p:cNvPr>
          <p:cNvSpPr txBox="1"/>
          <p:nvPr/>
        </p:nvSpPr>
        <p:spPr>
          <a:xfrm>
            <a:off x="4676917" y="1589325"/>
            <a:ext cx="1838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Algorithm</a:t>
            </a:r>
            <a:endParaRPr lang="nl-NL" sz="1600" b="1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E7B2657-CBE5-2B81-6E63-3160A24730C3}"/>
              </a:ext>
            </a:extLst>
          </p:cNvPr>
          <p:cNvSpPr txBox="1"/>
          <p:nvPr/>
        </p:nvSpPr>
        <p:spPr>
          <a:xfrm>
            <a:off x="4702689" y="1895201"/>
            <a:ext cx="17599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Heuristics</a:t>
            </a:r>
            <a:endParaRPr lang="nl-NL" sz="1600" b="1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BAD2900-7CAA-1D12-2C43-0019C8EE405E}"/>
              </a:ext>
            </a:extLst>
          </p:cNvPr>
          <p:cNvCxnSpPr/>
          <p:nvPr/>
        </p:nvCxnSpPr>
        <p:spPr>
          <a:xfrm>
            <a:off x="3326479" y="1485783"/>
            <a:ext cx="0" cy="303474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B1A3F24-AE84-A99F-FF8F-809AFBA46BF4}"/>
              </a:ext>
            </a:extLst>
          </p:cNvPr>
          <p:cNvSpPr/>
          <p:nvPr/>
        </p:nvSpPr>
        <p:spPr>
          <a:xfrm>
            <a:off x="3493574" y="3491038"/>
            <a:ext cx="922695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If struggling</a:t>
            </a:r>
            <a:endParaRPr lang="nl-NL" sz="120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ACA42D8-2F3E-FD0E-9940-92297EDCE839}"/>
              </a:ext>
            </a:extLst>
          </p:cNvPr>
          <p:cNvSpPr/>
          <p:nvPr/>
        </p:nvSpPr>
        <p:spPr>
          <a:xfrm>
            <a:off x="4818833" y="3491375"/>
            <a:ext cx="983201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If not struggling</a:t>
            </a:r>
            <a:endParaRPr lang="nl-NL" sz="12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ADCF4E4-C037-02DD-9336-467A9F5B8C98}"/>
              </a:ext>
            </a:extLst>
          </p:cNvPr>
          <p:cNvSpPr txBox="1"/>
          <p:nvPr/>
        </p:nvSpPr>
        <p:spPr>
          <a:xfrm>
            <a:off x="2023222" y="641568"/>
            <a:ext cx="3401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General Reasoning Process</a:t>
            </a:r>
            <a:endParaRPr lang="nl-NL" sz="2000" dirty="0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D7F4FE8D-D7ED-AEB2-45D4-9C2A28EF31DA}"/>
              </a:ext>
            </a:extLst>
          </p:cNvPr>
          <p:cNvCxnSpPr>
            <a:cxnSpLocks/>
          </p:cNvCxnSpPr>
          <p:nvPr/>
        </p:nvCxnSpPr>
        <p:spPr>
          <a:xfrm>
            <a:off x="3258906" y="4230063"/>
            <a:ext cx="0" cy="207560"/>
          </a:xfrm>
          <a:prstGeom prst="straightConnector1">
            <a:avLst/>
          </a:prstGeom>
          <a:ln>
            <a:solidFill>
              <a:srgbClr val="EC1CBF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4CF9E22C-BE58-F748-3643-43076D6F080C}"/>
              </a:ext>
            </a:extLst>
          </p:cNvPr>
          <p:cNvSpPr txBox="1"/>
          <p:nvPr/>
        </p:nvSpPr>
        <p:spPr>
          <a:xfrm>
            <a:off x="2409849" y="2512611"/>
            <a:ext cx="1893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Try to solve maze</a:t>
            </a:r>
            <a:endParaRPr lang="nl-NL" dirty="0"/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60CBC753-B7F5-5696-CEF8-C6DECC0FFEFF}"/>
              </a:ext>
            </a:extLst>
          </p:cNvPr>
          <p:cNvSpPr/>
          <p:nvPr/>
        </p:nvSpPr>
        <p:spPr>
          <a:xfrm>
            <a:off x="3839569" y="2708210"/>
            <a:ext cx="776154" cy="1336826"/>
          </a:xfrm>
          <a:prstGeom prst="arc">
            <a:avLst>
              <a:gd name="adj1" fmla="val 16200000"/>
              <a:gd name="adj2" fmla="val 530748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7" name="Arc 136">
            <a:extLst>
              <a:ext uri="{FF2B5EF4-FFF2-40B4-BE49-F238E27FC236}">
                <a16:creationId xmlns:a16="http://schemas.microsoft.com/office/drawing/2014/main" id="{909ECA68-959D-5831-4076-FCBB6D76866E}"/>
              </a:ext>
            </a:extLst>
          </p:cNvPr>
          <p:cNvSpPr/>
          <p:nvPr/>
        </p:nvSpPr>
        <p:spPr>
          <a:xfrm>
            <a:off x="2058383" y="2762177"/>
            <a:ext cx="776154" cy="1336826"/>
          </a:xfrm>
          <a:prstGeom prst="arc">
            <a:avLst>
              <a:gd name="adj1" fmla="val 5400000"/>
              <a:gd name="adj2" fmla="val 15922600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2DAF8EB-A704-3794-7612-04BCD59B4A9D}"/>
              </a:ext>
            </a:extLst>
          </p:cNvPr>
          <p:cNvCxnSpPr/>
          <p:nvPr/>
        </p:nvCxnSpPr>
        <p:spPr>
          <a:xfrm>
            <a:off x="3347783" y="2168637"/>
            <a:ext cx="0" cy="303474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Arc 143">
            <a:extLst>
              <a:ext uri="{FF2B5EF4-FFF2-40B4-BE49-F238E27FC236}">
                <a16:creationId xmlns:a16="http://schemas.microsoft.com/office/drawing/2014/main" id="{7EAD75FF-161A-F81D-02C3-EF4FB219F240}"/>
              </a:ext>
            </a:extLst>
          </p:cNvPr>
          <p:cNvSpPr/>
          <p:nvPr/>
        </p:nvSpPr>
        <p:spPr>
          <a:xfrm flipH="1">
            <a:off x="4615721" y="2708211"/>
            <a:ext cx="875701" cy="1337704"/>
          </a:xfrm>
          <a:prstGeom prst="arc">
            <a:avLst>
              <a:gd name="adj1" fmla="val 21551687"/>
              <a:gd name="adj2" fmla="val 5180967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5" name="Left Brace 144">
            <a:extLst>
              <a:ext uri="{FF2B5EF4-FFF2-40B4-BE49-F238E27FC236}">
                <a16:creationId xmlns:a16="http://schemas.microsoft.com/office/drawing/2014/main" id="{88ADAC49-B5FB-CF1A-7E4A-2E59E6BD1D2D}"/>
              </a:ext>
            </a:extLst>
          </p:cNvPr>
          <p:cNvSpPr/>
          <p:nvPr/>
        </p:nvSpPr>
        <p:spPr>
          <a:xfrm>
            <a:off x="1470576" y="2546946"/>
            <a:ext cx="538485" cy="3163704"/>
          </a:xfrm>
          <a:prstGeom prst="leftBrace">
            <a:avLst>
              <a:gd name="adj1" fmla="val 30914"/>
              <a:gd name="adj2" fmla="val 50683"/>
            </a:avLst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0E25092-2AF0-22F6-1FF6-F0182CBCC01D}"/>
              </a:ext>
            </a:extLst>
          </p:cNvPr>
          <p:cNvSpPr txBox="1"/>
          <p:nvPr/>
        </p:nvSpPr>
        <p:spPr>
          <a:xfrm>
            <a:off x="294596" y="3155736"/>
            <a:ext cx="1838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Language expressing </a:t>
            </a:r>
            <a:r>
              <a:rPr lang="en-US" b="1" dirty="0"/>
              <a:t>frustration</a:t>
            </a:r>
            <a:endParaRPr lang="nl-NL" b="1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71003106-49BB-AC9F-2ACD-C7603EC4AC01}"/>
              </a:ext>
            </a:extLst>
          </p:cNvPr>
          <p:cNvCxnSpPr>
            <a:cxnSpLocks/>
          </p:cNvCxnSpPr>
          <p:nvPr/>
        </p:nvCxnSpPr>
        <p:spPr>
          <a:xfrm>
            <a:off x="2046471" y="2548398"/>
            <a:ext cx="4925829" cy="28571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0D8AB1CF-CB8C-3964-CFCF-893ABC60F766}"/>
              </a:ext>
            </a:extLst>
          </p:cNvPr>
          <p:cNvCxnSpPr>
            <a:cxnSpLocks/>
          </p:cNvCxnSpPr>
          <p:nvPr/>
        </p:nvCxnSpPr>
        <p:spPr>
          <a:xfrm>
            <a:off x="2058383" y="5710650"/>
            <a:ext cx="4875907" cy="1253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999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04CA3E-3D11-81E1-82E7-BBCCC16B32F6}"/>
              </a:ext>
            </a:extLst>
          </p:cNvPr>
          <p:cNvSpPr txBox="1"/>
          <p:nvPr/>
        </p:nvSpPr>
        <p:spPr>
          <a:xfrm>
            <a:off x="152400" y="1951672"/>
            <a:ext cx="394716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dirty="0"/>
              <a:t>&lt;|0-0|&gt; &lt;|uprightleft_wall|&gt; &lt;|origin|&gt;</a:t>
            </a:r>
          </a:p>
          <a:p>
            <a:r>
              <a:rPr lang="nl-NL" dirty="0"/>
              <a:t>&lt;|0-1|&gt; &lt;|updownleft_wall|&gt; …</a:t>
            </a:r>
          </a:p>
          <a:p>
            <a:r>
              <a:rPr lang="nl-NL" dirty="0"/>
              <a:t>&lt;|2-2|&gt; &lt;|downright_wall|&gt; &lt;|target|&gt;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08E077-3AB3-88AB-4EC1-BD3A1B4328D0}"/>
              </a:ext>
            </a:extLst>
          </p:cNvPr>
          <p:cNvSpPr txBox="1"/>
          <p:nvPr/>
        </p:nvSpPr>
        <p:spPr>
          <a:xfrm>
            <a:off x="462915" y="1582340"/>
            <a:ext cx="332613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Tokenized – Line-walled maze</a:t>
            </a:r>
            <a:endParaRPr lang="nl-NL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28D353-EEB7-861E-E880-76823FDC666D}"/>
              </a:ext>
            </a:extLst>
          </p:cNvPr>
          <p:cNvSpPr txBox="1"/>
          <p:nvPr/>
        </p:nvSpPr>
        <p:spPr>
          <a:xfrm>
            <a:off x="4099560" y="1951672"/>
            <a:ext cx="4764405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dirty="0"/>
              <a:t>&lt;|0-0|&gt; &lt;|occupied_wall|&gt; … &lt;|1-1|&gt; &lt;|origin|&gt;</a:t>
            </a:r>
          </a:p>
          <a:p>
            <a:r>
              <a:rPr lang="nl-NL" dirty="0"/>
              <a:t> &lt;|1-2|&gt; &lt;|occupied_wall|&gt; &lt;|1-3|&gt; &lt;|blank|&gt; …</a:t>
            </a:r>
          </a:p>
          <a:p>
            <a:r>
              <a:rPr lang="nl-NL" dirty="0"/>
              <a:t> &lt;|5-5|&gt; &lt;|target|&gt; … &lt;|6-6|&gt; &lt;|occupied_wall|&gt;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74935D-82A3-676F-A797-5D8B15C74ECC}"/>
              </a:ext>
            </a:extLst>
          </p:cNvPr>
          <p:cNvSpPr txBox="1"/>
          <p:nvPr/>
        </p:nvSpPr>
        <p:spPr>
          <a:xfrm>
            <a:off x="4585328" y="1582340"/>
            <a:ext cx="379286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Tokenized – Occupancy grid maze</a:t>
            </a:r>
            <a:endParaRPr lang="nl-NL" b="1" dirty="0"/>
          </a:p>
        </p:txBody>
      </p:sp>
      <p:pic>
        <p:nvPicPr>
          <p:cNvPr id="11" name="Picture 10" descr="A group of black symbols&#10;&#10;AI-generated content may be incorrect.">
            <a:extLst>
              <a:ext uri="{FF2B5EF4-FFF2-40B4-BE49-F238E27FC236}">
                <a16:creationId xmlns:a16="http://schemas.microsoft.com/office/drawing/2014/main" id="{323108B6-45D6-34D6-FC32-EE506888F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26" y="3707321"/>
            <a:ext cx="1440305" cy="27434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6B90CC9-A91C-E23E-4F58-4620B24AE564}"/>
              </a:ext>
            </a:extLst>
          </p:cNvPr>
          <p:cNvSpPr txBox="1"/>
          <p:nvPr/>
        </p:nvSpPr>
        <p:spPr>
          <a:xfrm>
            <a:off x="180522" y="3337989"/>
            <a:ext cx="379286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ASCII – Occupancy grid maze</a:t>
            </a:r>
            <a:endParaRPr lang="nl-NL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B3CF97-37F4-11D0-C120-C5344793E455}"/>
              </a:ext>
            </a:extLst>
          </p:cNvPr>
          <p:cNvSpPr txBox="1"/>
          <p:nvPr/>
        </p:nvSpPr>
        <p:spPr>
          <a:xfrm>
            <a:off x="4099560" y="4354051"/>
            <a:ext cx="549508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dirty="0"/>
              <a:t>&lt;ADJLIST_START&gt; (1,1) &lt;–&gt; (2,1) ; … (5,4) &lt;–&gt; (5,5) &lt;ADJLIST_END&gt; &lt;ORIGIN_START&gt;(1,1)&lt;ORIGIN_END&gt; &lt;TARGET_START&gt;(5,5)&lt;TARGET_END&gt;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736F3D-1B75-0D04-CFDD-0B280AA6611F}"/>
              </a:ext>
            </a:extLst>
          </p:cNvPr>
          <p:cNvSpPr txBox="1"/>
          <p:nvPr/>
        </p:nvSpPr>
        <p:spPr>
          <a:xfrm>
            <a:off x="4585328" y="3982999"/>
            <a:ext cx="452354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Adjacency list text – Both maze styles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2936103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22E61F-96A5-8546-A575-461D7894D6F0}"/>
              </a:ext>
            </a:extLst>
          </p:cNvPr>
          <p:cNvSpPr txBox="1"/>
          <p:nvPr/>
        </p:nvSpPr>
        <p:spPr>
          <a:xfrm>
            <a:off x="0" y="394692"/>
            <a:ext cx="4191000" cy="72943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"size"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"columns"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3,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"rows"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3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"start"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0,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0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"end"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2,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2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"grid"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"walls"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"N"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"E"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"W"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endParaRPr lang="nl-NL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},</a:t>
            </a:r>
          </a:p>
          <a:p>
            <a:endParaRPr lang="nl-N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NL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NL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4A51FF-D930-7591-E126-ED6501A63FBE}"/>
              </a:ext>
            </a:extLst>
          </p:cNvPr>
          <p:cNvSpPr txBox="1"/>
          <p:nvPr/>
        </p:nvSpPr>
        <p:spPr>
          <a:xfrm>
            <a:off x="712470" y="-184666"/>
            <a:ext cx="276606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JSON – Line-walled maze</a:t>
            </a:r>
            <a:endParaRPr lang="nl-NL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23C014-387A-D1E3-6A1E-1BA8C143C567}"/>
              </a:ext>
            </a:extLst>
          </p:cNvPr>
          <p:cNvSpPr txBox="1"/>
          <p:nvPr/>
        </p:nvSpPr>
        <p:spPr>
          <a:xfrm>
            <a:off x="4620230" y="1951672"/>
            <a:ext cx="394716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dirty="0"/>
              <a:t>&lt;|0-0|&gt; &lt;|uprightleft_wall|&gt; &lt;|origin|&gt;</a:t>
            </a:r>
          </a:p>
          <a:p>
            <a:r>
              <a:rPr lang="nl-NL" dirty="0"/>
              <a:t>&lt;|0-1|&gt; &lt;|updownleft_wall|&gt; …</a:t>
            </a:r>
          </a:p>
          <a:p>
            <a:r>
              <a:rPr lang="nl-NL" dirty="0"/>
              <a:t>&lt;|2-2|&gt; &lt;|downright_wall|&gt; &lt;|target|&gt;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FDEAC7-4598-6AEB-D68C-E63710FD6370}"/>
              </a:ext>
            </a:extLst>
          </p:cNvPr>
          <p:cNvSpPr txBox="1"/>
          <p:nvPr/>
        </p:nvSpPr>
        <p:spPr>
          <a:xfrm>
            <a:off x="4930745" y="1582340"/>
            <a:ext cx="332613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Tokenized – Line-walled maze</a:t>
            </a:r>
            <a:endParaRPr lang="nl-NL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F9F40A-9EA1-8900-72B4-D5E7F573F8E3}"/>
              </a:ext>
            </a:extLst>
          </p:cNvPr>
          <p:cNvSpPr txBox="1"/>
          <p:nvPr/>
        </p:nvSpPr>
        <p:spPr>
          <a:xfrm>
            <a:off x="6593810" y="474344"/>
            <a:ext cx="4977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Only line-walled</a:t>
            </a:r>
            <a:endParaRPr lang="nl-NL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73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76A84E-E08F-6BD5-B7BF-00D0545A1003}"/>
              </a:ext>
            </a:extLst>
          </p:cNvPr>
          <p:cNvSpPr txBox="1"/>
          <p:nvPr/>
        </p:nvSpPr>
        <p:spPr>
          <a:xfrm>
            <a:off x="6437644" y="1951672"/>
            <a:ext cx="4764405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dirty="0"/>
              <a:t>&lt;|0-0|&gt; &lt;|occupied_wall|&gt; … &lt;|1-1|&gt; &lt;|origin|&gt;</a:t>
            </a:r>
          </a:p>
          <a:p>
            <a:r>
              <a:rPr lang="nl-NL" dirty="0"/>
              <a:t> &lt;|1-2|&gt; &lt;|occupied_wall|&gt; &lt;|1-3|&gt; &lt;|blank|&gt; …</a:t>
            </a:r>
          </a:p>
          <a:p>
            <a:r>
              <a:rPr lang="nl-NL" dirty="0"/>
              <a:t> &lt;|5-5|&gt; &lt;|target|&gt; … &lt;|6-6|&gt; &lt;|occupied_wall|&gt;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CF28-F691-755D-1BC2-BB9D7350B701}"/>
              </a:ext>
            </a:extLst>
          </p:cNvPr>
          <p:cNvSpPr txBox="1"/>
          <p:nvPr/>
        </p:nvSpPr>
        <p:spPr>
          <a:xfrm>
            <a:off x="6923412" y="1582340"/>
            <a:ext cx="379286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Tokenized – Occupancy grid maze</a:t>
            </a:r>
            <a:endParaRPr lang="nl-NL" b="1" dirty="0"/>
          </a:p>
        </p:txBody>
      </p:sp>
      <p:pic>
        <p:nvPicPr>
          <p:cNvPr id="6" name="Picture 5" descr="A group of black symbols&#10;&#10;AI-generated content may be incorrect.">
            <a:extLst>
              <a:ext uri="{FF2B5EF4-FFF2-40B4-BE49-F238E27FC236}">
                <a16:creationId xmlns:a16="http://schemas.microsoft.com/office/drawing/2014/main" id="{68F13485-8518-4DFC-DA3F-D3A5DD275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961" y="3707321"/>
            <a:ext cx="1440305" cy="2743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A33A74-D81A-BAB8-DFAE-5CEDFD031CF7}"/>
              </a:ext>
            </a:extLst>
          </p:cNvPr>
          <p:cNvSpPr txBox="1"/>
          <p:nvPr/>
        </p:nvSpPr>
        <p:spPr>
          <a:xfrm>
            <a:off x="6384557" y="3337989"/>
            <a:ext cx="331503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ASCII – Occupancy grid maze</a:t>
            </a:r>
            <a:endParaRPr lang="nl-NL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32A273-EA2E-EEF4-CDA6-595D193C3975}"/>
              </a:ext>
            </a:extLst>
          </p:cNvPr>
          <p:cNvSpPr txBox="1"/>
          <p:nvPr/>
        </p:nvSpPr>
        <p:spPr>
          <a:xfrm>
            <a:off x="2721017" y="394692"/>
            <a:ext cx="3524250" cy="72943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"size"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"columns"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3,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"rows"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3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"start"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0,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0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"end"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2,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2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"grid"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"node"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0,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0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"neighbors"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1,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0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]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]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},</a:t>
            </a:r>
            <a:endParaRPr lang="nl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43B246-65EE-3FC0-C2CA-ABB288BFA520}"/>
              </a:ext>
            </a:extLst>
          </p:cNvPr>
          <p:cNvSpPr txBox="1"/>
          <p:nvPr/>
        </p:nvSpPr>
        <p:spPr>
          <a:xfrm>
            <a:off x="2829125" y="-323166"/>
            <a:ext cx="330803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Adjacency list JSON – Both maze styles</a:t>
            </a:r>
            <a:endParaRPr lang="nl-NL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C58465-B984-AE43-A52F-1F067508EE66}"/>
              </a:ext>
            </a:extLst>
          </p:cNvPr>
          <p:cNvSpPr txBox="1"/>
          <p:nvPr/>
        </p:nvSpPr>
        <p:spPr>
          <a:xfrm>
            <a:off x="6593810" y="474344"/>
            <a:ext cx="4977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Only occupancy</a:t>
            </a:r>
            <a:endParaRPr lang="nl-NL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294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3F534CB-4D94-4CA8-8A84-FF5CB322A6EC}"/>
              </a:ext>
            </a:extLst>
          </p:cNvPr>
          <p:cNvGrpSpPr/>
          <p:nvPr/>
        </p:nvGrpSpPr>
        <p:grpSpPr>
          <a:xfrm>
            <a:off x="-3751474" y="-11377"/>
            <a:ext cx="20775659" cy="7703641"/>
            <a:chOff x="-3751474" y="-11377"/>
            <a:chExt cx="20775659" cy="770364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48FBC-D300-C387-8CDD-5AABCE009042}"/>
                </a:ext>
              </a:extLst>
            </p:cNvPr>
            <p:cNvSpPr/>
            <p:nvPr/>
          </p:nvSpPr>
          <p:spPr>
            <a:xfrm>
              <a:off x="-1" y="-11377"/>
              <a:ext cx="17024185" cy="77036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F705B29-E339-4479-10C3-FE6B251A7D5E}"/>
                </a:ext>
              </a:extLst>
            </p:cNvPr>
            <p:cNvGrpSpPr/>
            <p:nvPr/>
          </p:nvGrpSpPr>
          <p:grpSpPr>
            <a:xfrm>
              <a:off x="-3751474" y="25360"/>
              <a:ext cx="20775659" cy="7660369"/>
              <a:chOff x="-3751474" y="25360"/>
              <a:chExt cx="20775659" cy="7660369"/>
            </a:xfrm>
            <a:solidFill>
              <a:schemeClr val="bg1"/>
            </a:solidFill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01DF2B6-C72D-1764-4798-1E16F4C3855C}"/>
                  </a:ext>
                </a:extLst>
              </p:cNvPr>
              <p:cNvSpPr txBox="1"/>
              <p:nvPr/>
            </p:nvSpPr>
            <p:spPr>
              <a:xfrm>
                <a:off x="-3751474" y="25360"/>
                <a:ext cx="4082889" cy="7259598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"size"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"columns"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3,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"rows"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3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},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"start"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0,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0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],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"end"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2,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2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],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"grid"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"walls"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"N"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</a:t>
                </a:r>
                <a:r>
                  <a:rPr lang="nl-NL" sz="18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true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"E"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</a:t>
                </a:r>
                <a:r>
                  <a:rPr lang="nl-NL" sz="18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true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</a:t>
                </a:r>
                <a:r>
                  <a:rPr lang="nl-NL" sz="18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false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"W"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</a:t>
                </a:r>
                <a:r>
                  <a:rPr lang="nl-NL" sz="18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true</a:t>
                </a:r>
                <a:endParaRPr lang="nl-NL" sz="18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}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},</a:t>
                </a:r>
              </a:p>
              <a:p>
                <a:endParaRPr lang="nl-NL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endParaRPr lang="nl-NL" sz="18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endParaRPr lang="nl-NL" sz="18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FADF89-D2D7-3DE6-061A-70251AE8D500}"/>
                  </a:ext>
                </a:extLst>
              </p:cNvPr>
              <p:cNvSpPr txBox="1"/>
              <p:nvPr/>
            </p:nvSpPr>
            <p:spPr>
              <a:xfrm>
                <a:off x="344048" y="27146"/>
                <a:ext cx="2766060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JSON – Line-walled maze</a:t>
                </a:r>
                <a:endParaRPr lang="nl-NL" b="1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32B57B-F847-B796-835F-AE24ED0C9565}"/>
                  </a:ext>
                </a:extLst>
              </p:cNvPr>
              <p:cNvSpPr txBox="1"/>
              <p:nvPr/>
            </p:nvSpPr>
            <p:spPr>
              <a:xfrm>
                <a:off x="7282815" y="391424"/>
                <a:ext cx="3524250" cy="729430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"size"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"columns"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3,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"rows"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3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},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"start"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0,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0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],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"end"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2,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2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],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"grid"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"node"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0,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0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],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"neighbors"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    1,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    0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]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]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},</a:t>
                </a:r>
                <a:endParaRPr lang="nl-NL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BDF561-1C18-8130-E30B-B224496AEE59}"/>
                  </a:ext>
                </a:extLst>
              </p:cNvPr>
              <p:cNvSpPr txBox="1"/>
              <p:nvPr/>
            </p:nvSpPr>
            <p:spPr>
              <a:xfrm>
                <a:off x="7270182" y="25360"/>
                <a:ext cx="4263390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Adjacency list JSON – Both maze styles</a:t>
                </a:r>
                <a:endParaRPr lang="nl-NL" b="1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F41202-AC7B-E15F-5023-18801246C9EC}"/>
                  </a:ext>
                </a:extLst>
              </p:cNvPr>
              <p:cNvSpPr txBox="1"/>
              <p:nvPr/>
            </p:nvSpPr>
            <p:spPr>
              <a:xfrm>
                <a:off x="4082889" y="391424"/>
                <a:ext cx="3199926" cy="7294305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"size"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"columns"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7,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"rows"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7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},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"start"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1,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1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],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"end"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5,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5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],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"grid"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1,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1,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1,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1,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1,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1,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1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],</a:t>
                </a:r>
              </a:p>
              <a:p>
                <a:endParaRPr lang="nl-NL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endParaRPr lang="nl-NL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endParaRPr lang="nl-NL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B059DC-B042-926D-BC95-E6A2320D3EAD}"/>
                  </a:ext>
                </a:extLst>
              </p:cNvPr>
              <p:cNvSpPr txBox="1"/>
              <p:nvPr/>
            </p:nvSpPr>
            <p:spPr>
              <a:xfrm>
                <a:off x="4070257" y="25360"/>
                <a:ext cx="3199925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JSON – Occupancy grid maze</a:t>
                </a:r>
                <a:endParaRPr lang="nl-NL" b="1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BF7C47BD-8A8A-676C-363D-57F78CD91A52}"/>
                  </a:ext>
                </a:extLst>
              </p:cNvPr>
              <p:cNvGrpSpPr/>
              <p:nvPr/>
            </p:nvGrpSpPr>
            <p:grpSpPr>
              <a:xfrm>
                <a:off x="12303064" y="1689074"/>
                <a:ext cx="3947160" cy="1292662"/>
                <a:chOff x="12386468" y="2787769"/>
                <a:chExt cx="3947160" cy="1292662"/>
              </a:xfrm>
              <a:grpFill/>
            </p:grpSpPr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D96FAEA-B382-631F-EA2A-97E25B5F8997}"/>
                    </a:ext>
                  </a:extLst>
                </p:cNvPr>
                <p:cNvSpPr txBox="1"/>
                <p:nvPr/>
              </p:nvSpPr>
              <p:spPr>
                <a:xfrm>
                  <a:off x="12386468" y="3157101"/>
                  <a:ext cx="3947160" cy="92333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nl-NL" dirty="0"/>
                    <a:t>&lt;|0-0|&gt; &lt;|uprightleft_wall|&gt; &lt;|origin|&gt;</a:t>
                  </a:r>
                </a:p>
                <a:p>
                  <a:r>
                    <a:rPr lang="nl-NL" dirty="0"/>
                    <a:t>&lt;|0-1|&gt; &lt;|updownleft_wall|&gt; …</a:t>
                  </a:r>
                </a:p>
                <a:p>
                  <a:r>
                    <a:rPr lang="nl-NL" dirty="0"/>
                    <a:t>&lt;|2-2|&gt; &lt;|downright_wall|&gt; &lt;|target|&gt;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0A94696-60C7-8BE7-F58A-A371BDDC8EF3}"/>
                    </a:ext>
                  </a:extLst>
                </p:cNvPr>
                <p:cNvSpPr txBox="1"/>
                <p:nvPr/>
              </p:nvSpPr>
              <p:spPr>
                <a:xfrm>
                  <a:off x="12696983" y="2787769"/>
                  <a:ext cx="332613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Tokenized – Line-walled maze</a:t>
                  </a:r>
                  <a:endParaRPr lang="nl-NL" b="1" dirty="0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E87FF44C-8A24-94FA-5EC5-F074BBF3062A}"/>
                  </a:ext>
                </a:extLst>
              </p:cNvPr>
              <p:cNvGrpSpPr/>
              <p:nvPr/>
            </p:nvGrpSpPr>
            <p:grpSpPr>
              <a:xfrm>
                <a:off x="12014872" y="3351068"/>
                <a:ext cx="4764405" cy="1292662"/>
                <a:chOff x="9075420" y="10521818"/>
                <a:chExt cx="4764405" cy="1292662"/>
              </a:xfrm>
              <a:grpFill/>
            </p:grpSpPr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C484049-13EC-F0BE-F75D-C0B79CEE9B14}"/>
                    </a:ext>
                  </a:extLst>
                </p:cNvPr>
                <p:cNvSpPr txBox="1"/>
                <p:nvPr/>
              </p:nvSpPr>
              <p:spPr>
                <a:xfrm>
                  <a:off x="9075420" y="10891150"/>
                  <a:ext cx="4764405" cy="92333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nl-NL" dirty="0"/>
                    <a:t>&lt;|0-0|&gt; &lt;|occupied_wall|&gt; … &lt;|1-1|&gt; &lt;|origin|&gt;</a:t>
                  </a:r>
                </a:p>
                <a:p>
                  <a:r>
                    <a:rPr lang="nl-NL" dirty="0"/>
                    <a:t> &lt;|1-2|&gt; &lt;|occupied_wall|&gt; &lt;|1-3|&gt; &lt;|blank|&gt; …</a:t>
                  </a:r>
                </a:p>
                <a:p>
                  <a:r>
                    <a:rPr lang="nl-NL" dirty="0"/>
                    <a:t> &lt;|5-5|&gt; &lt;|target|&gt; … &lt;|6-6|&gt; &lt;|occupied_wall|&gt;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4F88F24-D553-6732-B40A-9005DF069946}"/>
                    </a:ext>
                  </a:extLst>
                </p:cNvPr>
                <p:cNvSpPr txBox="1"/>
                <p:nvPr/>
              </p:nvSpPr>
              <p:spPr>
                <a:xfrm>
                  <a:off x="9561188" y="10521818"/>
                  <a:ext cx="3792868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Tokenized – Occupancy grid maze</a:t>
                  </a:r>
                  <a:endParaRPr lang="nl-NL" b="1" dirty="0"/>
                </a:p>
              </p:txBody>
            </p:sp>
          </p:grpSp>
          <p:pic>
            <p:nvPicPr>
              <p:cNvPr id="14" name="Picture 13" descr="A group of black symbols&#10;&#10;AI-generated content may be incorrect.">
                <a:extLst>
                  <a:ext uri="{FF2B5EF4-FFF2-40B4-BE49-F238E27FC236}">
                    <a16:creationId xmlns:a16="http://schemas.microsoft.com/office/drawing/2014/main" id="{8A43B3BF-79EE-487B-560B-C9EA04AA88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676922" y="5353592"/>
                <a:ext cx="1224372" cy="2332137"/>
              </a:xfrm>
              <a:prstGeom prst="rect">
                <a:avLst/>
              </a:prstGeom>
              <a:grpFill/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C42B1D-1820-031D-D78A-DD2205CC7B28}"/>
                  </a:ext>
                </a:extLst>
              </p:cNvPr>
              <p:cNvSpPr txBox="1"/>
              <p:nvPr/>
            </p:nvSpPr>
            <p:spPr>
              <a:xfrm>
                <a:off x="12380210" y="4984260"/>
                <a:ext cx="3792868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ASCII – Occupancy grid maze</a:t>
                </a:r>
                <a:endParaRPr lang="nl-NL" b="1" dirty="0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C7516601-6AA6-B970-2773-720203D845A2}"/>
                  </a:ext>
                </a:extLst>
              </p:cNvPr>
              <p:cNvGrpSpPr/>
              <p:nvPr/>
            </p:nvGrpSpPr>
            <p:grpSpPr>
              <a:xfrm>
                <a:off x="11529104" y="25360"/>
                <a:ext cx="5495081" cy="1294382"/>
                <a:chOff x="11366940" y="28967"/>
                <a:chExt cx="5495081" cy="1294382"/>
              </a:xfrm>
              <a:grpFill/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E50F631-EC10-2B00-7C70-3FF47BBD193A}"/>
                    </a:ext>
                  </a:extLst>
                </p:cNvPr>
                <p:cNvSpPr txBox="1"/>
                <p:nvPr/>
              </p:nvSpPr>
              <p:spPr>
                <a:xfrm>
                  <a:off x="11366940" y="400019"/>
                  <a:ext cx="5495081" cy="92333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nl-NL" dirty="0"/>
                    <a:t>&lt;ADJLIST_START&gt; (1,1) &lt;–&gt; (2,1) ; … (5,4) &lt;–&gt; (5,5) &lt;ADJLIST_END&gt; &lt;ORIGIN_START&gt;(1,1)&lt;ORIGIN_END&gt; &lt;TARGET_START&gt;(5,5)&lt;TARGET_END&gt; 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47BC646-A8DE-B4DB-3CBC-B97C580AF9B0}"/>
                    </a:ext>
                  </a:extLst>
                </p:cNvPr>
                <p:cNvSpPr txBox="1"/>
                <p:nvPr/>
              </p:nvSpPr>
              <p:spPr>
                <a:xfrm>
                  <a:off x="11852708" y="28967"/>
                  <a:ext cx="4523544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Adjacency list text – Both maze styles</a:t>
                  </a:r>
                  <a:endParaRPr lang="nl-NL" b="1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3626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35DE1-6288-C542-88ED-A4A185AB7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E808DF2-CCEF-C3DF-5FE0-7FECB91BBD18}"/>
              </a:ext>
            </a:extLst>
          </p:cNvPr>
          <p:cNvSpPr/>
          <p:nvPr/>
        </p:nvSpPr>
        <p:spPr>
          <a:xfrm>
            <a:off x="-1" y="-11377"/>
            <a:ext cx="17024185" cy="77036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CF8945-EE92-441D-D713-3C5F2EB4EE90}"/>
              </a:ext>
            </a:extLst>
          </p:cNvPr>
          <p:cNvSpPr txBox="1"/>
          <p:nvPr/>
        </p:nvSpPr>
        <p:spPr>
          <a:xfrm>
            <a:off x="0" y="394693"/>
            <a:ext cx="4082889" cy="72595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"size"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"columns"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3,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"rows"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3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"start"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0,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0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"end"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2,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2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"grid"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"walls"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"N"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"E"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"W"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endParaRPr lang="nl-NL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},</a:t>
            </a:r>
          </a:p>
          <a:p>
            <a:endParaRPr lang="nl-N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NL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NL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223BC-B585-6BA6-D171-928C796616F9}"/>
              </a:ext>
            </a:extLst>
          </p:cNvPr>
          <p:cNvSpPr txBox="1"/>
          <p:nvPr/>
        </p:nvSpPr>
        <p:spPr>
          <a:xfrm>
            <a:off x="344048" y="27146"/>
            <a:ext cx="276606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JSON – Line-walled maze</a:t>
            </a:r>
            <a:endParaRPr lang="nl-NL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C1B755-8E25-8A06-571A-A83F03D616C6}"/>
              </a:ext>
            </a:extLst>
          </p:cNvPr>
          <p:cNvSpPr txBox="1"/>
          <p:nvPr/>
        </p:nvSpPr>
        <p:spPr>
          <a:xfrm>
            <a:off x="7282815" y="391424"/>
            <a:ext cx="3524250" cy="72943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"size"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"columns"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3,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"rows"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3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"start"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0,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0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"end"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2,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2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"grid"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"node"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0,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0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"neighbors"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1,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0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]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]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},</a:t>
            </a:r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7BC84-56E5-44C5-57D7-8CC35322F2E5}"/>
              </a:ext>
            </a:extLst>
          </p:cNvPr>
          <p:cNvSpPr txBox="1"/>
          <p:nvPr/>
        </p:nvSpPr>
        <p:spPr>
          <a:xfrm>
            <a:off x="7270182" y="25360"/>
            <a:ext cx="426339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Adjacency list JSON – Both maze styles</a:t>
            </a:r>
            <a:endParaRPr lang="nl-NL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85DF3D-9359-D289-F353-7A4E7056D582}"/>
              </a:ext>
            </a:extLst>
          </p:cNvPr>
          <p:cNvSpPr txBox="1"/>
          <p:nvPr/>
        </p:nvSpPr>
        <p:spPr>
          <a:xfrm>
            <a:off x="4082889" y="391424"/>
            <a:ext cx="3199926" cy="72943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"size"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{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"columns"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7,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"rows"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7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"start"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1,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1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"end"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5,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5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],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solidFill>
                  <a:srgbClr val="2E75B6"/>
                </a:solidFill>
                <a:latin typeface="Consolas" panose="020B0609020204030204" pitchFamily="49" charset="0"/>
              </a:rPr>
              <a:t>"grid"</a:t>
            </a:r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1,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1,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1,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1,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1,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1,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1</a:t>
            </a:r>
          </a:p>
          <a:p>
            <a:r>
              <a:rPr lang="nl-NL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],</a:t>
            </a:r>
          </a:p>
          <a:p>
            <a:endParaRPr lang="nl-N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N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5D80C2-6A4D-27B9-89CD-55AB8640ECF7}"/>
              </a:ext>
            </a:extLst>
          </p:cNvPr>
          <p:cNvSpPr txBox="1"/>
          <p:nvPr/>
        </p:nvSpPr>
        <p:spPr>
          <a:xfrm>
            <a:off x="4070257" y="25360"/>
            <a:ext cx="319992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JSON – Occupancy grid maze</a:t>
            </a:r>
            <a:endParaRPr lang="nl-NL" b="1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576F593-2530-ACCA-01A2-6F5DD1FF8EB9}"/>
              </a:ext>
            </a:extLst>
          </p:cNvPr>
          <p:cNvGrpSpPr/>
          <p:nvPr/>
        </p:nvGrpSpPr>
        <p:grpSpPr>
          <a:xfrm>
            <a:off x="12303064" y="1689074"/>
            <a:ext cx="3947160" cy="1292662"/>
            <a:chOff x="12386468" y="2787769"/>
            <a:chExt cx="3947160" cy="1292662"/>
          </a:xfrm>
          <a:solidFill>
            <a:schemeClr val="bg1"/>
          </a:solidFill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8AA519-3D7E-F106-D1C5-477D4C79BD09}"/>
                </a:ext>
              </a:extLst>
            </p:cNvPr>
            <p:cNvSpPr txBox="1"/>
            <p:nvPr/>
          </p:nvSpPr>
          <p:spPr>
            <a:xfrm>
              <a:off x="12386468" y="3157101"/>
              <a:ext cx="3947160" cy="92333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nl-NL" dirty="0"/>
                <a:t>&lt;|0-0|&gt; &lt;|uprightleft_wall|&gt; &lt;|origin|&gt;</a:t>
              </a:r>
            </a:p>
            <a:p>
              <a:r>
                <a:rPr lang="nl-NL" dirty="0"/>
                <a:t>&lt;|0-1|&gt; &lt;|updownleft_wall|&gt; …</a:t>
              </a:r>
            </a:p>
            <a:p>
              <a:r>
                <a:rPr lang="nl-NL" dirty="0"/>
                <a:t>&lt;|2-2|&gt; &lt;|downright_wall|&gt; &lt;|target|&gt;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E880138-F093-B25C-F0D0-998162FD408D}"/>
                </a:ext>
              </a:extLst>
            </p:cNvPr>
            <p:cNvSpPr txBox="1"/>
            <p:nvPr/>
          </p:nvSpPr>
          <p:spPr>
            <a:xfrm>
              <a:off x="12696983" y="2787769"/>
              <a:ext cx="332613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Tokenized – Line-walled maze</a:t>
              </a:r>
              <a:endParaRPr lang="nl-NL" b="1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65D7B92-9AD6-8027-F7D8-26E7D6E24865}"/>
              </a:ext>
            </a:extLst>
          </p:cNvPr>
          <p:cNvGrpSpPr/>
          <p:nvPr/>
        </p:nvGrpSpPr>
        <p:grpSpPr>
          <a:xfrm>
            <a:off x="12014872" y="3351068"/>
            <a:ext cx="4764405" cy="1292662"/>
            <a:chOff x="9075420" y="10521818"/>
            <a:chExt cx="4764405" cy="1292662"/>
          </a:xfrm>
          <a:solidFill>
            <a:schemeClr val="bg1"/>
          </a:solidFill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57B741D-02F8-8BBB-E1AE-6A0E478D25F4}"/>
                </a:ext>
              </a:extLst>
            </p:cNvPr>
            <p:cNvSpPr txBox="1"/>
            <p:nvPr/>
          </p:nvSpPr>
          <p:spPr>
            <a:xfrm>
              <a:off x="9075420" y="10891150"/>
              <a:ext cx="4764405" cy="92333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nl-NL" dirty="0"/>
                <a:t>&lt;|0-0|&gt; &lt;|occupied_wall|&gt; … &lt;|1-1|&gt; &lt;|origin|&gt;</a:t>
              </a:r>
            </a:p>
            <a:p>
              <a:r>
                <a:rPr lang="nl-NL" dirty="0"/>
                <a:t> &lt;|1-2|&gt; &lt;|occupied_wall|&gt; &lt;|1-3|&gt; &lt;|blank|&gt; …</a:t>
              </a:r>
            </a:p>
            <a:p>
              <a:r>
                <a:rPr lang="nl-NL" dirty="0"/>
                <a:t> &lt;|5-5|&gt; &lt;|target|&gt; … &lt;|6-6|&gt; &lt;|occupied_wall|&gt;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F086C1-8F8C-BA89-9784-CBE67C1D2F66}"/>
                </a:ext>
              </a:extLst>
            </p:cNvPr>
            <p:cNvSpPr txBox="1"/>
            <p:nvPr/>
          </p:nvSpPr>
          <p:spPr>
            <a:xfrm>
              <a:off x="9561188" y="10521818"/>
              <a:ext cx="3792868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Tokenized – Occupancy grid maze</a:t>
              </a:r>
              <a:endParaRPr lang="nl-NL" b="1" dirty="0"/>
            </a:p>
          </p:txBody>
        </p:sp>
      </p:grpSp>
      <p:pic>
        <p:nvPicPr>
          <p:cNvPr id="14" name="Picture 13" descr="A group of black symbols&#10;&#10;AI-generated content may be incorrect.">
            <a:extLst>
              <a:ext uri="{FF2B5EF4-FFF2-40B4-BE49-F238E27FC236}">
                <a16:creationId xmlns:a16="http://schemas.microsoft.com/office/drawing/2014/main" id="{1BC7645F-9A46-24FA-4505-F57655F47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6922" y="5353592"/>
            <a:ext cx="1224372" cy="233213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7644CB0-A6A8-5723-DA02-E68A8FBC115F}"/>
              </a:ext>
            </a:extLst>
          </p:cNvPr>
          <p:cNvSpPr txBox="1"/>
          <p:nvPr/>
        </p:nvSpPr>
        <p:spPr>
          <a:xfrm>
            <a:off x="12380210" y="4984260"/>
            <a:ext cx="379286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ASCII – Occupancy grid maze</a:t>
            </a:r>
            <a:endParaRPr lang="nl-NL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EF99C10-AF2E-7AF1-C886-5DE5D275A566}"/>
              </a:ext>
            </a:extLst>
          </p:cNvPr>
          <p:cNvGrpSpPr/>
          <p:nvPr/>
        </p:nvGrpSpPr>
        <p:grpSpPr>
          <a:xfrm>
            <a:off x="11529104" y="25360"/>
            <a:ext cx="5495081" cy="1294382"/>
            <a:chOff x="11366940" y="28967"/>
            <a:chExt cx="5495081" cy="1294382"/>
          </a:xfrm>
          <a:solidFill>
            <a:schemeClr val="bg1"/>
          </a:solidFill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FA97FA0-A0D6-C3AD-B8D1-D2363E474672}"/>
                </a:ext>
              </a:extLst>
            </p:cNvPr>
            <p:cNvSpPr txBox="1"/>
            <p:nvPr/>
          </p:nvSpPr>
          <p:spPr>
            <a:xfrm>
              <a:off x="11366940" y="400019"/>
              <a:ext cx="5495081" cy="92333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nl-NL" dirty="0"/>
                <a:t>&lt;ADJLIST_START&gt; (1,1) &lt;–&gt; (2,1) ; … (5,4) &lt;–&gt; (5,5) &lt;ADJLIST_END&gt; &lt;ORIGIN_START&gt;(1,1)&lt;ORIGIN_END&gt; &lt;TARGET_START&gt;(5,5)&lt;TARGET_END&gt;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A85206C-30B9-8819-FD90-92127EEDC12B}"/>
                </a:ext>
              </a:extLst>
            </p:cNvPr>
            <p:cNvSpPr txBox="1"/>
            <p:nvPr/>
          </p:nvSpPr>
          <p:spPr>
            <a:xfrm>
              <a:off x="11852708" y="28967"/>
              <a:ext cx="4523544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Adjacency list text – Both maze styles</a:t>
              </a:r>
              <a:endParaRPr lang="nl-NL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59107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A10FA23-D1FB-DBD3-8AE5-EC1555CE694C}"/>
              </a:ext>
            </a:extLst>
          </p:cNvPr>
          <p:cNvGrpSpPr/>
          <p:nvPr/>
        </p:nvGrpSpPr>
        <p:grpSpPr>
          <a:xfrm>
            <a:off x="-1904999" y="-261587"/>
            <a:ext cx="20848319" cy="15144043"/>
            <a:chOff x="-1904999" y="-1097280"/>
            <a:chExt cx="21625560" cy="15144043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A5D46F4C-9C97-1A89-9B8C-D42C2B47C0EA}"/>
                </a:ext>
              </a:extLst>
            </p:cNvPr>
            <p:cNvGrpSpPr/>
            <p:nvPr/>
          </p:nvGrpSpPr>
          <p:grpSpPr>
            <a:xfrm>
              <a:off x="-1904999" y="-1097280"/>
              <a:ext cx="21625560" cy="15144043"/>
              <a:chOff x="-2133599" y="-1097280"/>
              <a:chExt cx="20881567" cy="1514404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185D54F-5517-1FC6-67B1-191F952A3C6D}"/>
                  </a:ext>
                </a:extLst>
              </p:cNvPr>
              <p:cNvSpPr/>
              <p:nvPr/>
            </p:nvSpPr>
            <p:spPr>
              <a:xfrm>
                <a:off x="-2133597" y="-1097280"/>
                <a:ext cx="20881565" cy="151368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6D152437-1E0A-54CB-4FB5-5A6FE7F33D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508760" y="-1097280"/>
                <a:ext cx="0" cy="151368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246E872-EB40-1CC1-C8FC-36906CAFD3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7108" y="-1097280"/>
                <a:ext cx="0" cy="151368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0B46D49-F941-6691-D570-5EABD8DD17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0401" y="-1097280"/>
                <a:ext cx="0" cy="151368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86C0388-1A55-7C1B-3018-D019206291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46684" y="-1097280"/>
                <a:ext cx="0" cy="151368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8D5FC5A-0BDF-1C30-D8B0-1F4069A9F7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03418" y="-1090045"/>
                <a:ext cx="0" cy="1513680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F7A2DFE-222C-B811-FBF1-116306E3BF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2133599" y="-626758"/>
                <a:ext cx="20881567" cy="638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94C0817-FF3F-2811-201F-011612BCFD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-2133599" y="6692822"/>
                <a:ext cx="20881567" cy="5019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6D04D0-46CE-AB82-0FC0-6DCF2A04371B}"/>
                  </a:ext>
                </a:extLst>
              </p:cNvPr>
              <p:cNvSpPr txBox="1"/>
              <p:nvPr/>
            </p:nvSpPr>
            <p:spPr>
              <a:xfrm rot="16200000">
                <a:off x="-3453982" y="2380446"/>
                <a:ext cx="32656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Line-Walled Maze</a:t>
                </a:r>
                <a:endParaRPr lang="nl-NL" sz="2400" b="1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408063-1910-02CD-1480-CDBAE9CDCADD}"/>
                  </a:ext>
                </a:extLst>
              </p:cNvPr>
              <p:cNvSpPr txBox="1"/>
              <p:nvPr/>
            </p:nvSpPr>
            <p:spPr>
              <a:xfrm rot="16200000">
                <a:off x="-3666417" y="9888589"/>
                <a:ext cx="36904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Occupancy Grid Maze</a:t>
                </a:r>
                <a:endParaRPr lang="nl-NL" sz="2400" b="1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C19CC43-F19C-ADAA-AC46-27E8A5F85F29}"/>
                  </a:ext>
                </a:extLst>
              </p:cNvPr>
              <p:cNvSpPr txBox="1"/>
              <p:nvPr/>
            </p:nvSpPr>
            <p:spPr>
              <a:xfrm>
                <a:off x="65815" y="-1065358"/>
                <a:ext cx="10111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JSON</a:t>
                </a:r>
                <a:endParaRPr lang="nl-NL" sz="2400" b="1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D91046D-136B-DED4-636F-27F90E2553B1}"/>
                  </a:ext>
                </a:extLst>
              </p:cNvPr>
              <p:cNvSpPr txBox="1"/>
              <p:nvPr/>
            </p:nvSpPr>
            <p:spPr>
              <a:xfrm>
                <a:off x="2838611" y="-1080507"/>
                <a:ext cx="30073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Adjacency List JSON</a:t>
                </a:r>
                <a:endParaRPr lang="nl-NL" sz="2400" b="1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C0D92E9-F8A8-EA55-F46D-FD39110C625F}"/>
                  </a:ext>
                </a:extLst>
              </p:cNvPr>
              <p:cNvSpPr txBox="1"/>
              <p:nvPr/>
            </p:nvSpPr>
            <p:spPr>
              <a:xfrm>
                <a:off x="6649437" y="-1080507"/>
                <a:ext cx="31708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Adjacency List Text</a:t>
                </a:r>
                <a:endParaRPr lang="nl-NL" sz="2400" b="1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6373C8-B4EA-A7CC-297B-6590AB9D6E11}"/>
                  </a:ext>
                </a:extLst>
              </p:cNvPr>
              <p:cNvSpPr txBox="1"/>
              <p:nvPr/>
            </p:nvSpPr>
            <p:spPr>
              <a:xfrm>
                <a:off x="11743904" y="-1088711"/>
                <a:ext cx="16309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Tokenized</a:t>
                </a:r>
                <a:endParaRPr lang="nl-NL" sz="2400" b="1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2FB5FC7-D6C3-1846-FB9F-1E8E46B75B33}"/>
                  </a:ext>
                </a:extLst>
              </p:cNvPr>
              <p:cNvSpPr txBox="1"/>
              <p:nvPr/>
            </p:nvSpPr>
            <p:spPr>
              <a:xfrm>
                <a:off x="15298446" y="-1065358"/>
                <a:ext cx="10147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ASCII</a:t>
                </a:r>
                <a:endParaRPr lang="nl-NL" sz="2400" b="1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530156-43DD-B789-F69B-618A70AC31D6}"/>
                  </a:ext>
                </a:extLst>
              </p:cNvPr>
              <p:cNvSpPr txBox="1"/>
              <p:nvPr/>
            </p:nvSpPr>
            <p:spPr>
              <a:xfrm>
                <a:off x="-1470074" y="-620375"/>
                <a:ext cx="4082889" cy="64633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"size"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"columns"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3,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"rows"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3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},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"start"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0,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0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],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"end"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2,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2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],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"grid"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"walls"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"N"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</a:t>
                </a:r>
                <a:r>
                  <a:rPr lang="nl-NL" sz="18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true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"E"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</a:t>
                </a:r>
                <a:r>
                  <a:rPr lang="nl-NL" sz="18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true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</a:t>
                </a:r>
                <a:r>
                  <a:rPr lang="nl-NL" sz="18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false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"W"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</a:t>
                </a:r>
                <a:r>
                  <a:rPr lang="nl-NL" sz="1800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true</a:t>
                </a:r>
                <a:endParaRPr lang="nl-NL" sz="18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}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},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B7EB7A1-8AD3-035D-ADD1-31D00F496A7F}"/>
                  </a:ext>
                </a:extLst>
              </p:cNvPr>
              <p:cNvSpPr txBox="1"/>
              <p:nvPr/>
            </p:nvSpPr>
            <p:spPr>
              <a:xfrm>
                <a:off x="-1357077" y="6743016"/>
                <a:ext cx="3199910" cy="64633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"size"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"columns"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7,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"rows"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7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},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"start"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1,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1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],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"end"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5,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5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],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"grid"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1,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1,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1,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1,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1,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1,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1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],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DB475F0-21D2-CF7F-04E7-AF2793E25D3E}"/>
                  </a:ext>
                </a:extLst>
              </p:cNvPr>
              <p:cNvSpPr txBox="1"/>
              <p:nvPr/>
            </p:nvSpPr>
            <p:spPr>
              <a:xfrm>
                <a:off x="2586708" y="-591813"/>
                <a:ext cx="3524250" cy="729430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"size"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"columns"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3,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"rows"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3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},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"start"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0,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0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],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"end"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2,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2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],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"grid"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"node"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0,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0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],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"neighbors"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    1,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    0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]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]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},</a:t>
                </a:r>
                <a:endParaRPr lang="nl-NL" dirty="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CC9AC4B-5E26-AAFB-F5A3-FD191A71CE50}"/>
                  </a:ext>
                </a:extLst>
              </p:cNvPr>
              <p:cNvSpPr txBox="1"/>
              <p:nvPr/>
            </p:nvSpPr>
            <p:spPr>
              <a:xfrm>
                <a:off x="2571443" y="6745224"/>
                <a:ext cx="3524250" cy="729430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"size"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"columns"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3,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"rows"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3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},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"start"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0,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0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],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"end"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2,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2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],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"grid"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{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"node"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0,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0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],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</a:t>
                </a:r>
                <a:r>
                  <a:rPr lang="nl-NL" sz="1800" dirty="0">
                    <a:solidFill>
                      <a:srgbClr val="2E75B6"/>
                    </a:solidFill>
                    <a:latin typeface="Consolas" panose="020B0609020204030204" pitchFamily="49" charset="0"/>
                  </a:rPr>
                  <a:t>"neighbors"</a:t>
                </a:r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: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[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    1,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    0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    ]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    ]</a:t>
                </a:r>
              </a:p>
              <a:p>
                <a:r>
                  <a:rPr lang="nl-NL" sz="1800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        },</a:t>
                </a:r>
                <a:endParaRPr lang="nl-NL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B90BCC3-4EBF-5B6A-8BB0-60922A6DE331}"/>
                  </a:ext>
                </a:extLst>
              </p:cNvPr>
              <p:cNvSpPr txBox="1"/>
              <p:nvPr/>
            </p:nvSpPr>
            <p:spPr>
              <a:xfrm>
                <a:off x="6177824" y="-489425"/>
                <a:ext cx="3931922" cy="12003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nl-NL" dirty="0"/>
                  <a:t>&lt;ADJLIST_START&gt; (1,1) &lt;–&gt; (2,1) ; </a:t>
                </a:r>
              </a:p>
              <a:p>
                <a:r>
                  <a:rPr lang="nl-NL" dirty="0"/>
                  <a:t>… (5,4) &lt;–&gt; (5,5) &lt;ADJLIST_END&gt; &lt;ORIGIN_START&gt;(1,1)&lt;ORIGIN_END&gt; &lt;TARGET_START&gt;(5,5)&lt;TARGET_END&gt; 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FA0966B-9554-AC0D-A14F-F3D4A18603BE}"/>
                  </a:ext>
                </a:extLst>
              </p:cNvPr>
              <p:cNvSpPr txBox="1"/>
              <p:nvPr/>
            </p:nvSpPr>
            <p:spPr>
              <a:xfrm>
                <a:off x="6176786" y="6858000"/>
                <a:ext cx="3921540" cy="12003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nl-NL" dirty="0"/>
                  <a:t>&lt;ADJLIST_START&gt; (1,1) &lt;–&gt; (2,1) ;</a:t>
                </a:r>
              </a:p>
              <a:p>
                <a:r>
                  <a:rPr lang="nl-NL" dirty="0"/>
                  <a:t>… (5,4) &lt;–&gt; (5,5) &lt;ADJLIST_END&gt; &lt;ORIGIN_START&gt;(1,1)&lt;ORIGIN_END&gt; &lt;TARGET_START&gt;(5,5)&lt;TARGET_END&gt; 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D81E1E2-695D-6B34-B08D-BE1F3D30CAF6}"/>
                  </a:ext>
                </a:extLst>
              </p:cNvPr>
              <p:cNvSpPr txBox="1"/>
              <p:nvPr/>
            </p:nvSpPr>
            <p:spPr>
              <a:xfrm>
                <a:off x="10188631" y="-492145"/>
                <a:ext cx="3947160" cy="923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nl-NL" dirty="0"/>
                  <a:t>&lt;|0-0|&gt; &lt;|uprightleft_wall|&gt; &lt;|origin|&gt;</a:t>
                </a:r>
              </a:p>
              <a:p>
                <a:r>
                  <a:rPr lang="nl-NL" dirty="0"/>
                  <a:t>&lt;|0-1|&gt; &lt;|updownleft_wall|&gt; …</a:t>
                </a:r>
              </a:p>
              <a:p>
                <a:r>
                  <a:rPr lang="nl-NL" dirty="0"/>
                  <a:t>&lt;|2-2|&gt; &lt;|downright_wall|&gt; &lt;|target|&gt;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03C0DDA-35F5-5FFB-DC2D-5A8043A29F66}"/>
                  </a:ext>
                </a:extLst>
              </p:cNvPr>
              <p:cNvSpPr txBox="1"/>
              <p:nvPr/>
            </p:nvSpPr>
            <p:spPr>
              <a:xfrm>
                <a:off x="10173366" y="6859339"/>
                <a:ext cx="4764405" cy="923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nl-NL" dirty="0"/>
                  <a:t>&lt;|0-0|&gt; &lt;|occupied_wall|&gt; … &lt;|1-1|&gt; &lt;|origin|&gt;</a:t>
                </a:r>
              </a:p>
              <a:p>
                <a:r>
                  <a:rPr lang="nl-NL" dirty="0"/>
                  <a:t>&lt;|1-2|&gt; &lt;|occupied_wall|&gt; &lt;|1-3|&gt; &lt;|blank|&gt; …</a:t>
                </a:r>
              </a:p>
              <a:p>
                <a:r>
                  <a:rPr lang="nl-NL" dirty="0"/>
                  <a:t>&lt;|5-5|&gt; &lt;|target|&gt; … &lt;|6-6|&gt; &lt;|occupied_wall|&gt;</a:t>
                </a:r>
              </a:p>
            </p:txBody>
          </p:sp>
          <p:pic>
            <p:nvPicPr>
              <p:cNvPr id="67" name="Picture 66" descr="A group of black symbols&#10;&#10;AI-generated content may be incorrect.">
                <a:extLst>
                  <a:ext uri="{FF2B5EF4-FFF2-40B4-BE49-F238E27FC236}">
                    <a16:creationId xmlns:a16="http://schemas.microsoft.com/office/drawing/2014/main" id="{67B5820D-6267-0491-66F9-52FEF3E767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56536" y="6857999"/>
                <a:ext cx="1286204" cy="2449911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B99F56F-0D81-00BE-8535-79EB376C41A9}"/>
                  </a:ext>
                </a:extLst>
              </p:cNvPr>
              <p:cNvSpPr txBox="1"/>
              <p:nvPr/>
            </p:nvSpPr>
            <p:spPr>
              <a:xfrm>
                <a:off x="14973929" y="-563543"/>
                <a:ext cx="8278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None</a:t>
                </a:r>
                <a:endParaRPr lang="nl-NL" dirty="0"/>
              </a:p>
            </p:txBody>
          </p:sp>
        </p:grp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7D80BF05-B608-4D83-8194-8AA52A9D7EB9}"/>
                </a:ext>
              </a:extLst>
            </p:cNvPr>
            <p:cNvCxnSpPr>
              <a:cxnSpLocks/>
            </p:cNvCxnSpPr>
            <p:nvPr/>
          </p:nvCxnSpPr>
          <p:spPr>
            <a:xfrm>
              <a:off x="15714551" y="-1090050"/>
              <a:ext cx="0" cy="151368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727A802-9551-3D6F-AD7C-22425756FE41}"/>
                </a:ext>
              </a:extLst>
            </p:cNvPr>
            <p:cNvSpPr txBox="1"/>
            <p:nvPr/>
          </p:nvSpPr>
          <p:spPr>
            <a:xfrm>
              <a:off x="18283028" y="-1082043"/>
              <a:ext cx="8770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JPG</a:t>
              </a:r>
              <a:endParaRPr lang="nl-NL" sz="2400" b="1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C6AC8F4-537B-A777-1148-5EDAF287A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9206" y="-527705"/>
              <a:ext cx="1704664" cy="170466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2A05701-C45E-0CE2-109F-A452D8609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25"/>
            <a:stretch>
              <a:fillRect/>
            </a:stretch>
          </p:blipFill>
          <p:spPr>
            <a:xfrm>
              <a:off x="17840827" y="6816084"/>
              <a:ext cx="1766950" cy="17046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1878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2049</Words>
  <Application>Microsoft Office PowerPoint</Application>
  <PresentationFormat>Widescreen</PresentationFormat>
  <Paragraphs>475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Valérie van Noesel</dc:creator>
  <cp:lastModifiedBy>Valérie van Noesel</cp:lastModifiedBy>
  <cp:revision>6</cp:revision>
  <dcterms:created xsi:type="dcterms:W3CDTF">2025-12-11T16:10:58Z</dcterms:created>
  <dcterms:modified xsi:type="dcterms:W3CDTF">2026-03-16T15:36:24Z</dcterms:modified>
</cp:coreProperties>
</file>