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25" d="100"/>
          <a:sy n="25" d="100"/>
        </p:scale>
        <p:origin x="2894" y="10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4C1F51-8E4F-4E5B-B98C-042184E4D3EC}" type="datetimeFigureOut">
              <a:rPr lang="nl-NL" smtClean="0"/>
              <a:t>9-3-2026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67083C-E1A1-4EE3-8924-0DC9FD7DE75D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13334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7083C-E1A1-4EE3-8924-0DC9FD7DE75D}" type="slidenum">
              <a:rPr lang="nl-NL" smtClean="0"/>
              <a:t>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604365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ED826-486D-C41C-C963-03E570BBF0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1193470-11ED-0BDB-81D8-1A74311696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F3D602-218C-E388-05F9-0CEB1FDC4B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662DF-287D-431E-B338-DA766D8B3B6C}" type="datetimeFigureOut">
              <a:rPr lang="nl-NL" smtClean="0"/>
              <a:t>9-3-2026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004A4E-7644-8566-EF04-AEC3797A8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32A843-358F-110B-0D5C-65233D772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A570F-B863-47E3-BF64-7813C01EE44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15062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97A894-4DC4-EBF5-4F0E-9456B88EA0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05E00A-DFDD-FC61-4133-B6E354965E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E529FC-1B0A-2B08-7ADC-EAD8D9D013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662DF-287D-431E-B338-DA766D8B3B6C}" type="datetimeFigureOut">
              <a:rPr lang="nl-NL" smtClean="0"/>
              <a:t>9-3-2026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4D40BA-DBB3-35F0-940A-81179A274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9793EC-59AB-0F51-AB02-E8CFB9013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A570F-B863-47E3-BF64-7813C01EE44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946038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C8201-E7CE-C567-37F4-FA8903D982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30DA1C-D9AD-D712-F2DF-C7E93BF87B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6CBCC8-4591-1950-FB83-E4CDCCE60C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662DF-287D-431E-B338-DA766D8B3B6C}" type="datetimeFigureOut">
              <a:rPr lang="nl-NL" smtClean="0"/>
              <a:t>9-3-2026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64F1B9-9BE6-0889-5A9D-569088E066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7110A7-8A8B-9AC0-ACC7-9087CADD8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A570F-B863-47E3-BF64-7813C01EE44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69725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EA214-A9FF-5B80-F119-DF68EE551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E7DDE3-CBBC-8FF6-046B-03D184DE2B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E0166F-E146-4E59-AA9E-39B97C3F8C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5DED94-6175-A0DD-9AE9-338192FCAA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662DF-287D-431E-B338-DA766D8B3B6C}" type="datetimeFigureOut">
              <a:rPr lang="nl-NL" smtClean="0"/>
              <a:t>9-3-2026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839CD3-6AB3-034C-9585-7B619CA317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16609C-8A69-4EAD-44C1-78A04DE84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A570F-B863-47E3-BF64-7813C01EE44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252803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F2433-44EA-5B13-2315-3457F0D2C0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89A231-2458-CC00-9006-3B63893FE9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AD0029-9D74-2F75-E9E5-258E3E7D0D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7AC857-486A-0DF0-753B-A6C8E6192C9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46C41D-CB45-A8FC-0E31-A3AE2F8693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94A9AAC-B3FD-03F4-758A-8438675287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662DF-287D-431E-B338-DA766D8B3B6C}" type="datetimeFigureOut">
              <a:rPr lang="nl-NL" smtClean="0"/>
              <a:t>9-3-2026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AAB1627-9784-7504-9B1C-9483B74A4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6ADA99A-AEA6-2066-5121-0F4DD7D5C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A570F-B863-47E3-BF64-7813C01EE44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392174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130DC-C5BD-7373-1527-1D92392022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62FBC73-F17B-531F-4A70-E5AC85EAA2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662DF-287D-431E-B338-DA766D8B3B6C}" type="datetimeFigureOut">
              <a:rPr lang="nl-NL" smtClean="0"/>
              <a:t>9-3-2026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13398B-25BB-3761-37C7-025CCF3D65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D993C2-CF45-B0F1-626F-249166538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A570F-B863-47E3-BF64-7813C01EE44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609392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0D590A0-4044-5390-3636-0EF116943C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662DF-287D-431E-B338-DA766D8B3B6C}" type="datetimeFigureOut">
              <a:rPr lang="nl-NL" smtClean="0"/>
              <a:t>9-3-2026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EBE719A-D2F4-A5B6-6479-424218A9D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261787-458A-B825-EFD4-5226CD359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A570F-B863-47E3-BF64-7813C01EE44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310725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D1AFE-E067-8A1B-0605-FFC090BAB1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0158DA-8B8E-A51D-18FE-D30F9CF40C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C97687-8DB4-C5C5-1720-FA0FE770F0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569EB4-2A60-132D-AECF-C2A11364C9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662DF-287D-431E-B338-DA766D8B3B6C}" type="datetimeFigureOut">
              <a:rPr lang="nl-NL" smtClean="0"/>
              <a:t>9-3-2026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EB13CF-3BBB-5EEC-B9FD-5C13F538C2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15F9AD-5265-68CE-36E4-CA50B2885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A570F-B863-47E3-BF64-7813C01EE44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891576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4475DF-DA13-8242-4CFD-B843538DFA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3235B65-F76A-01D1-45C8-37B4AB81AA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375BC3-836D-F839-E918-B376AB9041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6DAF21-3640-BF6C-9BA4-2D03EA0D9B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662DF-287D-431E-B338-DA766D8B3B6C}" type="datetimeFigureOut">
              <a:rPr lang="nl-NL" smtClean="0"/>
              <a:t>9-3-2026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0E93EC-C4D0-0941-8BC6-CB06578E84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9F4D7D-3330-EDEE-9080-4435182F7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A570F-B863-47E3-BF64-7813C01EE44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246602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B02CA-A017-6041-F6BE-EED6692DAD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7A1F42-5702-B060-9F9D-03C608FE59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5F81F7-6E7D-20C3-1E21-5CD9A77676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662DF-287D-431E-B338-DA766D8B3B6C}" type="datetimeFigureOut">
              <a:rPr lang="nl-NL" smtClean="0"/>
              <a:t>9-3-2026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766041-E479-3F59-94D8-4CB1FDD94A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D4ADAC-09F0-426A-E06F-70D1FCEAC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A570F-B863-47E3-BF64-7813C01EE44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634726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956A3F5-6F1B-403A-015F-4C0BA39FD1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563FDC-82CE-C40C-0837-BF6EC3D0FE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405C9B-DAED-366B-ADE4-4185564C8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662DF-287D-431E-B338-DA766D8B3B6C}" type="datetimeFigureOut">
              <a:rPr lang="nl-NL" smtClean="0"/>
              <a:t>9-3-2026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2AEB3-99B6-C1DD-4F36-C4E67C52E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B1A869-AB1C-14A1-6788-FBBA03F521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A570F-B863-47E3-BF64-7813C01EE44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211010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18780E2-8354-1E7B-B13E-5CF8BB9129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C18508-3AC5-8E41-260C-AE0B61E041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FEC34-D95C-4584-AAA6-1963895488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0662DF-287D-431E-B338-DA766D8B3B6C}" type="datetimeFigureOut">
              <a:rPr lang="nl-NL" smtClean="0"/>
              <a:t>9-3-2026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F82680-06E6-7607-A141-B7FC1B9F22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0FED8E-6BE5-6AD1-BAC1-4628775130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5A570F-B863-47E3-BF64-7813C01EE44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719039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86CAF991-378A-2A3C-D3BC-0A51F3BEEFD7}"/>
              </a:ext>
            </a:extLst>
          </p:cNvPr>
          <p:cNvSpPr txBox="1"/>
          <p:nvPr/>
        </p:nvSpPr>
        <p:spPr>
          <a:xfrm>
            <a:off x="0" y="394692"/>
            <a:ext cx="4191000" cy="72943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"size"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"columns"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3,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"rows"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3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},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"start"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0,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0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"end"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2,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2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"grid"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"walls"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"N"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nl-NL" sz="1800" dirty="0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"E"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nl-NL" sz="1800" dirty="0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nl-NL" sz="1800" dirty="0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"W"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nl-NL" sz="1800" dirty="0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endParaRPr lang="nl-NL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}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},</a:t>
            </a:r>
          </a:p>
          <a:p>
            <a:endParaRPr lang="nl-NL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nl-NL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nl-NL" sz="1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DA7845E-44F6-D136-C07F-C10BE17A5004}"/>
              </a:ext>
            </a:extLst>
          </p:cNvPr>
          <p:cNvSpPr txBox="1"/>
          <p:nvPr/>
        </p:nvSpPr>
        <p:spPr>
          <a:xfrm>
            <a:off x="712470" y="-184666"/>
            <a:ext cx="276606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JSON – Line-walled maze</a:t>
            </a:r>
            <a:endParaRPr lang="nl-NL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89ADDF-B53F-6B08-4EC7-8691ED45CA34}"/>
              </a:ext>
            </a:extLst>
          </p:cNvPr>
          <p:cNvSpPr txBox="1"/>
          <p:nvPr/>
        </p:nvSpPr>
        <p:spPr>
          <a:xfrm>
            <a:off x="4191000" y="394692"/>
            <a:ext cx="3524250" cy="72943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"size"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"columns"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3,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"rows"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3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},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"start"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0,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0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"end"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2,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2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"grid"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"node"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0,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0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"neighbors"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0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]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]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},</a:t>
            </a:r>
            <a:endParaRPr lang="nl-NL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41E926-75FD-FDED-84A9-F4A49EFF99F7}"/>
              </a:ext>
            </a:extLst>
          </p:cNvPr>
          <p:cNvSpPr txBox="1"/>
          <p:nvPr/>
        </p:nvSpPr>
        <p:spPr>
          <a:xfrm>
            <a:off x="4299108" y="-323166"/>
            <a:ext cx="3308033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Adjacency list JSON – Both maze styles</a:t>
            </a:r>
            <a:endParaRPr lang="nl-NL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574DBD-E245-D609-9FB4-0AE2B051F383}"/>
              </a:ext>
            </a:extLst>
          </p:cNvPr>
          <p:cNvSpPr txBox="1"/>
          <p:nvPr/>
        </p:nvSpPr>
        <p:spPr>
          <a:xfrm>
            <a:off x="7715250" y="394692"/>
            <a:ext cx="3199924" cy="72943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"size"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"columns"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7,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"rows"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7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},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"start"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1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"end"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5,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5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"grid"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1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],</a:t>
            </a:r>
          </a:p>
          <a:p>
            <a:endParaRPr lang="nl-NL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nl-NL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nl-NL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0BE7064-3862-94D1-C1E7-744E0247448F}"/>
              </a:ext>
            </a:extLst>
          </p:cNvPr>
          <p:cNvSpPr txBox="1"/>
          <p:nvPr/>
        </p:nvSpPr>
        <p:spPr>
          <a:xfrm>
            <a:off x="7661195" y="-184666"/>
            <a:ext cx="3308033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JSON – Occupancy grid maze</a:t>
            </a:r>
            <a:endParaRPr lang="nl-NL" b="1" dirty="0"/>
          </a:p>
        </p:txBody>
      </p:sp>
    </p:spTree>
    <p:extLst>
      <p:ext uri="{BB962C8B-B14F-4D97-AF65-F5344CB8AC3E}">
        <p14:creationId xmlns:p14="http://schemas.microsoft.com/office/powerpoint/2010/main" val="19101714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904CA3E-3D11-81E1-82E7-BBCCC16B32F6}"/>
              </a:ext>
            </a:extLst>
          </p:cNvPr>
          <p:cNvSpPr txBox="1"/>
          <p:nvPr/>
        </p:nvSpPr>
        <p:spPr>
          <a:xfrm>
            <a:off x="152400" y="1951672"/>
            <a:ext cx="3947160" cy="92333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nl-NL" dirty="0"/>
              <a:t>&lt;|0-0|&gt; &lt;|uprightleft_wall|&gt; &lt;|origin|&gt;</a:t>
            </a:r>
          </a:p>
          <a:p>
            <a:r>
              <a:rPr lang="nl-NL" dirty="0"/>
              <a:t>&lt;|0-1|&gt; &lt;|updownleft_wall|&gt; …</a:t>
            </a:r>
          </a:p>
          <a:p>
            <a:r>
              <a:rPr lang="nl-NL" dirty="0"/>
              <a:t>&lt;|2-2|&gt; &lt;|downright_wall|&gt; &lt;|target|&gt;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08E077-3AB3-88AB-4EC1-BD3A1B4328D0}"/>
              </a:ext>
            </a:extLst>
          </p:cNvPr>
          <p:cNvSpPr txBox="1"/>
          <p:nvPr/>
        </p:nvSpPr>
        <p:spPr>
          <a:xfrm>
            <a:off x="462915" y="1582340"/>
            <a:ext cx="332613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Tokenized – Line-walled maze</a:t>
            </a:r>
            <a:endParaRPr lang="nl-NL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D28D353-EEB7-861E-E880-76823FDC666D}"/>
              </a:ext>
            </a:extLst>
          </p:cNvPr>
          <p:cNvSpPr txBox="1"/>
          <p:nvPr/>
        </p:nvSpPr>
        <p:spPr>
          <a:xfrm>
            <a:off x="4099560" y="1951672"/>
            <a:ext cx="4764405" cy="92333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nl-NL" dirty="0"/>
              <a:t>&lt;|0-0|&gt; &lt;|occupied_wall|&gt; … &lt;|1-1|&gt; &lt;|origin|&gt;</a:t>
            </a:r>
          </a:p>
          <a:p>
            <a:r>
              <a:rPr lang="nl-NL" dirty="0"/>
              <a:t> &lt;|1-2|&gt; &lt;|occupied_wall|&gt; &lt;|1-3|&gt; &lt;|blank|&gt; …</a:t>
            </a:r>
          </a:p>
          <a:p>
            <a:r>
              <a:rPr lang="nl-NL" dirty="0"/>
              <a:t> &lt;|5-5|&gt; &lt;|target|&gt; … &lt;|6-6|&gt; &lt;|occupied_wall|&gt;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D74935D-82A3-676F-A797-5D8B15C74ECC}"/>
              </a:ext>
            </a:extLst>
          </p:cNvPr>
          <p:cNvSpPr txBox="1"/>
          <p:nvPr/>
        </p:nvSpPr>
        <p:spPr>
          <a:xfrm>
            <a:off x="4585328" y="1582340"/>
            <a:ext cx="379286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Tokenized – Occupancy grid maze</a:t>
            </a:r>
            <a:endParaRPr lang="nl-NL" b="1" dirty="0"/>
          </a:p>
        </p:txBody>
      </p:sp>
      <p:pic>
        <p:nvPicPr>
          <p:cNvPr id="11" name="Picture 10" descr="A group of black symbols&#10;&#10;AI-generated content may be incorrect.">
            <a:extLst>
              <a:ext uri="{FF2B5EF4-FFF2-40B4-BE49-F238E27FC236}">
                <a16:creationId xmlns:a16="http://schemas.microsoft.com/office/drawing/2014/main" id="{323108B6-45D6-34D6-FC32-EE506888F0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926" y="3707321"/>
            <a:ext cx="1440305" cy="274343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56B90CC9-A91C-E23E-4F58-4620B24AE564}"/>
              </a:ext>
            </a:extLst>
          </p:cNvPr>
          <p:cNvSpPr txBox="1"/>
          <p:nvPr/>
        </p:nvSpPr>
        <p:spPr>
          <a:xfrm>
            <a:off x="180522" y="3337989"/>
            <a:ext cx="379286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ASCII – Occupancy grid maze</a:t>
            </a:r>
            <a:endParaRPr lang="nl-NL" b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7B3CF97-37F4-11D0-C120-C5344793E455}"/>
              </a:ext>
            </a:extLst>
          </p:cNvPr>
          <p:cNvSpPr txBox="1"/>
          <p:nvPr/>
        </p:nvSpPr>
        <p:spPr>
          <a:xfrm>
            <a:off x="4099560" y="4354051"/>
            <a:ext cx="5495081" cy="92333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nl-NL" dirty="0"/>
              <a:t>&lt;ADJLIST_START&gt; (1,1) &lt;–&gt; (2,1) ; … (5,4) &lt;–&gt; (5,5) &lt;ADJLIST_END&gt; &lt;ORIGIN_START&gt;(1,1)&lt;ORIGIN_END&gt; &lt;TARGET_START&gt;(5,5)&lt;TARGET_END&gt;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736F3D-1B75-0D04-CFDD-0B280AA6611F}"/>
              </a:ext>
            </a:extLst>
          </p:cNvPr>
          <p:cNvSpPr txBox="1"/>
          <p:nvPr/>
        </p:nvSpPr>
        <p:spPr>
          <a:xfrm>
            <a:off x="4585328" y="3982999"/>
            <a:ext cx="4523544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Adjacency list text – Both maze styles</a:t>
            </a:r>
            <a:endParaRPr lang="nl-NL" b="1" dirty="0"/>
          </a:p>
        </p:txBody>
      </p:sp>
    </p:spTree>
    <p:extLst>
      <p:ext uri="{BB962C8B-B14F-4D97-AF65-F5344CB8AC3E}">
        <p14:creationId xmlns:p14="http://schemas.microsoft.com/office/powerpoint/2010/main" val="29361035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622E61F-96A5-8546-A575-461D7894D6F0}"/>
              </a:ext>
            </a:extLst>
          </p:cNvPr>
          <p:cNvSpPr txBox="1"/>
          <p:nvPr/>
        </p:nvSpPr>
        <p:spPr>
          <a:xfrm>
            <a:off x="0" y="394692"/>
            <a:ext cx="4191000" cy="72943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"size"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"columns"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3,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"rows"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3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},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"start"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0,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0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"end"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2,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2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"grid"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"walls"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"N"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nl-NL" sz="1800" dirty="0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"E"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nl-NL" sz="1800" dirty="0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nl-NL" sz="1800" dirty="0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"W"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nl-NL" sz="1800" dirty="0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endParaRPr lang="nl-NL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}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},</a:t>
            </a:r>
          </a:p>
          <a:p>
            <a:endParaRPr lang="nl-NL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nl-NL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nl-NL" sz="1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4A51FF-D930-7591-E126-ED6501A63FBE}"/>
              </a:ext>
            </a:extLst>
          </p:cNvPr>
          <p:cNvSpPr txBox="1"/>
          <p:nvPr/>
        </p:nvSpPr>
        <p:spPr>
          <a:xfrm>
            <a:off x="712470" y="-184666"/>
            <a:ext cx="276606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JSON – Line-walled maze</a:t>
            </a:r>
            <a:endParaRPr lang="nl-NL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23C014-387A-D1E3-6A1E-1BA8C143C567}"/>
              </a:ext>
            </a:extLst>
          </p:cNvPr>
          <p:cNvSpPr txBox="1"/>
          <p:nvPr/>
        </p:nvSpPr>
        <p:spPr>
          <a:xfrm>
            <a:off x="4620230" y="1951672"/>
            <a:ext cx="3947160" cy="92333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nl-NL" dirty="0"/>
              <a:t>&lt;|0-0|&gt; &lt;|uprightleft_wall|&gt; &lt;|origin|&gt;</a:t>
            </a:r>
          </a:p>
          <a:p>
            <a:r>
              <a:rPr lang="nl-NL" dirty="0"/>
              <a:t>&lt;|0-1|&gt; &lt;|updownleft_wall|&gt; …</a:t>
            </a:r>
          </a:p>
          <a:p>
            <a:r>
              <a:rPr lang="nl-NL" dirty="0"/>
              <a:t>&lt;|2-2|&gt; &lt;|downright_wall|&gt; &lt;|target|&gt;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FDEAC7-4598-6AEB-D68C-E63710FD6370}"/>
              </a:ext>
            </a:extLst>
          </p:cNvPr>
          <p:cNvSpPr txBox="1"/>
          <p:nvPr/>
        </p:nvSpPr>
        <p:spPr>
          <a:xfrm>
            <a:off x="4930745" y="1582340"/>
            <a:ext cx="332613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Tokenized – Line-walled maze</a:t>
            </a:r>
            <a:endParaRPr lang="nl-NL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F9F40A-9EA1-8900-72B4-D5E7F573F8E3}"/>
              </a:ext>
            </a:extLst>
          </p:cNvPr>
          <p:cNvSpPr txBox="1"/>
          <p:nvPr/>
        </p:nvSpPr>
        <p:spPr>
          <a:xfrm>
            <a:off x="6593810" y="474344"/>
            <a:ext cx="49771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Only line-walled</a:t>
            </a:r>
            <a:endParaRPr lang="nl-NL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60733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D76A84E-E08F-6BD5-B7BF-00D0545A1003}"/>
              </a:ext>
            </a:extLst>
          </p:cNvPr>
          <p:cNvSpPr txBox="1"/>
          <p:nvPr/>
        </p:nvSpPr>
        <p:spPr>
          <a:xfrm>
            <a:off x="6437644" y="1951672"/>
            <a:ext cx="4764405" cy="92333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nl-NL" dirty="0"/>
              <a:t>&lt;|0-0|&gt; &lt;|occupied_wall|&gt; … &lt;|1-1|&gt; &lt;|origin|&gt;</a:t>
            </a:r>
          </a:p>
          <a:p>
            <a:r>
              <a:rPr lang="nl-NL" dirty="0"/>
              <a:t> &lt;|1-2|&gt; &lt;|occupied_wall|&gt; &lt;|1-3|&gt; &lt;|blank|&gt; …</a:t>
            </a:r>
          </a:p>
          <a:p>
            <a:r>
              <a:rPr lang="nl-NL" dirty="0"/>
              <a:t> &lt;|5-5|&gt; &lt;|target|&gt; … &lt;|6-6|&gt; &lt;|occupied_wall|&gt;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AA3CF28-F691-755D-1BC2-BB9D7350B701}"/>
              </a:ext>
            </a:extLst>
          </p:cNvPr>
          <p:cNvSpPr txBox="1"/>
          <p:nvPr/>
        </p:nvSpPr>
        <p:spPr>
          <a:xfrm>
            <a:off x="6923412" y="1582340"/>
            <a:ext cx="379286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Tokenized – Occupancy grid maze</a:t>
            </a:r>
            <a:endParaRPr lang="nl-NL" b="1" dirty="0"/>
          </a:p>
        </p:txBody>
      </p:sp>
      <p:pic>
        <p:nvPicPr>
          <p:cNvPr id="6" name="Picture 5" descr="A group of black symbols&#10;&#10;AI-generated content may be incorrect.">
            <a:extLst>
              <a:ext uri="{FF2B5EF4-FFF2-40B4-BE49-F238E27FC236}">
                <a16:creationId xmlns:a16="http://schemas.microsoft.com/office/drawing/2014/main" id="{68F13485-8518-4DFC-DA3F-D3A5DD2755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0961" y="3707321"/>
            <a:ext cx="1440305" cy="274343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4A33A74-D81A-BAB8-DFAE-5CEDFD031CF7}"/>
              </a:ext>
            </a:extLst>
          </p:cNvPr>
          <p:cNvSpPr txBox="1"/>
          <p:nvPr/>
        </p:nvSpPr>
        <p:spPr>
          <a:xfrm>
            <a:off x="6384557" y="3337989"/>
            <a:ext cx="3315032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ASCII – Occupancy grid maze</a:t>
            </a:r>
            <a:endParaRPr lang="nl-NL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32A273-EA2E-EEF4-CDA6-595D193C3975}"/>
              </a:ext>
            </a:extLst>
          </p:cNvPr>
          <p:cNvSpPr txBox="1"/>
          <p:nvPr/>
        </p:nvSpPr>
        <p:spPr>
          <a:xfrm>
            <a:off x="2721017" y="394692"/>
            <a:ext cx="3524250" cy="72943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"size"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"columns"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3,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"rows"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3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},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"start"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0,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0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"end"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2,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2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"grid"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"node"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0,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0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"neighbors"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0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]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]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},</a:t>
            </a:r>
            <a:endParaRPr lang="nl-NL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43B246-65EE-3FC0-C2CA-ABB288BFA520}"/>
              </a:ext>
            </a:extLst>
          </p:cNvPr>
          <p:cNvSpPr txBox="1"/>
          <p:nvPr/>
        </p:nvSpPr>
        <p:spPr>
          <a:xfrm>
            <a:off x="2829125" y="-323166"/>
            <a:ext cx="3308033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Adjacency list JSON – Both maze styles</a:t>
            </a:r>
            <a:endParaRPr lang="nl-NL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C58465-B984-AE43-A52F-1F067508EE66}"/>
              </a:ext>
            </a:extLst>
          </p:cNvPr>
          <p:cNvSpPr txBox="1"/>
          <p:nvPr/>
        </p:nvSpPr>
        <p:spPr>
          <a:xfrm>
            <a:off x="6593810" y="474344"/>
            <a:ext cx="49771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Only occupancy</a:t>
            </a:r>
            <a:endParaRPr lang="nl-NL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532944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23F534CB-4D94-4CA8-8A84-FF5CB322A6EC}"/>
              </a:ext>
            </a:extLst>
          </p:cNvPr>
          <p:cNvGrpSpPr/>
          <p:nvPr/>
        </p:nvGrpSpPr>
        <p:grpSpPr>
          <a:xfrm>
            <a:off x="-3751474" y="-11377"/>
            <a:ext cx="20775659" cy="7703641"/>
            <a:chOff x="-3751474" y="-11377"/>
            <a:chExt cx="20775659" cy="7703641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CA048FBC-D300-C387-8CDD-5AABCE009042}"/>
                </a:ext>
              </a:extLst>
            </p:cNvPr>
            <p:cNvSpPr/>
            <p:nvPr/>
          </p:nvSpPr>
          <p:spPr>
            <a:xfrm>
              <a:off x="-1" y="-11377"/>
              <a:ext cx="17024185" cy="770364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dirty="0"/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BF705B29-E339-4479-10C3-FE6B251A7D5E}"/>
                </a:ext>
              </a:extLst>
            </p:cNvPr>
            <p:cNvGrpSpPr/>
            <p:nvPr/>
          </p:nvGrpSpPr>
          <p:grpSpPr>
            <a:xfrm>
              <a:off x="-3751474" y="25360"/>
              <a:ext cx="20775659" cy="7660369"/>
              <a:chOff x="-3751474" y="25360"/>
              <a:chExt cx="20775659" cy="7660369"/>
            </a:xfrm>
            <a:solidFill>
              <a:schemeClr val="bg1"/>
            </a:solidFill>
          </p:grpSpPr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01DF2B6-C72D-1764-4798-1E16F4C3855C}"/>
                  </a:ext>
                </a:extLst>
              </p:cNvPr>
              <p:cNvSpPr txBox="1"/>
              <p:nvPr/>
            </p:nvSpPr>
            <p:spPr>
              <a:xfrm>
                <a:off x="-3751474" y="25360"/>
                <a:ext cx="4082889" cy="7259598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"size"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"columns"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3,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"rows"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3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},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"start"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0,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0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],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"end"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2,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2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],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"grid"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"walls"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"N"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</a:t>
                </a:r>
                <a:r>
                  <a:rPr lang="nl-NL" sz="1800" dirty="0">
                    <a:solidFill>
                      <a:srgbClr val="0000FF"/>
                    </a:solidFill>
                    <a:latin typeface="Consolas" panose="020B0609020204030204" pitchFamily="49" charset="0"/>
                  </a:rPr>
                  <a:t>true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"E"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</a:t>
                </a:r>
                <a:r>
                  <a:rPr lang="nl-NL" sz="1800" dirty="0">
                    <a:solidFill>
                      <a:srgbClr val="0000FF"/>
                    </a:solidFill>
                    <a:latin typeface="Consolas" panose="020B0609020204030204" pitchFamily="49" charset="0"/>
                  </a:rPr>
                  <a:t>true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</a:t>
                </a:r>
                <a:r>
                  <a:rPr lang="nl-NL" sz="1800" dirty="0">
                    <a:solidFill>
                      <a:srgbClr val="0000FF"/>
                    </a:solidFill>
                    <a:latin typeface="Consolas" panose="020B0609020204030204" pitchFamily="49" charset="0"/>
                  </a:rPr>
                  <a:t>false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"W"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</a:t>
                </a:r>
                <a:r>
                  <a:rPr lang="nl-NL" sz="1800" dirty="0">
                    <a:solidFill>
                      <a:srgbClr val="0000FF"/>
                    </a:solidFill>
                    <a:latin typeface="Consolas" panose="020B0609020204030204" pitchFamily="49" charset="0"/>
                  </a:rPr>
                  <a:t>true</a:t>
                </a:r>
                <a:endParaRPr lang="nl-NL" sz="1800" dirty="0">
                  <a:solidFill>
                    <a:srgbClr val="000000"/>
                  </a:solidFill>
                  <a:latin typeface="Consolas" panose="020B0609020204030204" pitchFamily="49" charset="0"/>
                </a:endParaRP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}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},</a:t>
                </a:r>
              </a:p>
              <a:p>
                <a:endParaRPr lang="nl-NL" dirty="0">
                  <a:solidFill>
                    <a:srgbClr val="000000"/>
                  </a:solidFill>
                  <a:latin typeface="Consolas" panose="020B0609020204030204" pitchFamily="49" charset="0"/>
                </a:endParaRPr>
              </a:p>
              <a:p>
                <a:endParaRPr lang="nl-NL" sz="1800" dirty="0">
                  <a:solidFill>
                    <a:srgbClr val="000000"/>
                  </a:solidFill>
                  <a:latin typeface="Consolas" panose="020B0609020204030204" pitchFamily="49" charset="0"/>
                </a:endParaRPr>
              </a:p>
              <a:p>
                <a:endParaRPr lang="nl-NL" sz="1800" dirty="0">
                  <a:solidFill>
                    <a:srgbClr val="000000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FADF89-D2D7-3DE6-061A-70251AE8D500}"/>
                  </a:ext>
                </a:extLst>
              </p:cNvPr>
              <p:cNvSpPr txBox="1"/>
              <p:nvPr/>
            </p:nvSpPr>
            <p:spPr>
              <a:xfrm>
                <a:off x="344048" y="27146"/>
                <a:ext cx="2766060" cy="369332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JSON – Line-walled maze</a:t>
                </a:r>
                <a:endParaRPr lang="nl-NL" b="1" dirty="0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A32B57B-F847-B796-835F-AE24ED0C9565}"/>
                  </a:ext>
                </a:extLst>
              </p:cNvPr>
              <p:cNvSpPr txBox="1"/>
              <p:nvPr/>
            </p:nvSpPr>
            <p:spPr>
              <a:xfrm>
                <a:off x="7282815" y="391424"/>
                <a:ext cx="3524250" cy="7294305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"size"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"columns"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3,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"rows"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3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},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"start"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0,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0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],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"end"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2,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2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],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"grid"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"node"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0,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0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],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"neighbors"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    1,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    0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]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]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},</a:t>
                </a:r>
                <a:endParaRPr lang="nl-NL" dirty="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9BDF561-1C18-8130-E30B-B224496AEE59}"/>
                  </a:ext>
                </a:extLst>
              </p:cNvPr>
              <p:cNvSpPr txBox="1"/>
              <p:nvPr/>
            </p:nvSpPr>
            <p:spPr>
              <a:xfrm>
                <a:off x="7270182" y="25360"/>
                <a:ext cx="4263390" cy="369332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Adjacency list JSON – Both maze styles</a:t>
                </a:r>
                <a:endParaRPr lang="nl-NL" b="1" dirty="0"/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CF41202-AC7B-E15F-5023-18801246C9EC}"/>
                  </a:ext>
                </a:extLst>
              </p:cNvPr>
              <p:cNvSpPr txBox="1"/>
              <p:nvPr/>
            </p:nvSpPr>
            <p:spPr>
              <a:xfrm>
                <a:off x="4082889" y="391424"/>
                <a:ext cx="3199926" cy="7294305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"size"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"columns"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7,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"rows"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7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},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"start"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1,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1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],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"end"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5,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5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],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"grid"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1,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1,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1,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1,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1,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1,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1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],</a:t>
                </a:r>
              </a:p>
              <a:p>
                <a:endParaRPr lang="nl-NL" dirty="0">
                  <a:solidFill>
                    <a:srgbClr val="000000"/>
                  </a:solidFill>
                  <a:latin typeface="Consolas" panose="020B0609020204030204" pitchFamily="49" charset="0"/>
                </a:endParaRPr>
              </a:p>
              <a:p>
                <a:endParaRPr lang="nl-NL" dirty="0">
                  <a:solidFill>
                    <a:srgbClr val="000000"/>
                  </a:solidFill>
                  <a:latin typeface="Consolas" panose="020B0609020204030204" pitchFamily="49" charset="0"/>
                </a:endParaRPr>
              </a:p>
              <a:p>
                <a:endParaRPr lang="nl-NL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7B059DC-B042-926D-BC95-E6A2320D3EAD}"/>
                  </a:ext>
                </a:extLst>
              </p:cNvPr>
              <p:cNvSpPr txBox="1"/>
              <p:nvPr/>
            </p:nvSpPr>
            <p:spPr>
              <a:xfrm>
                <a:off x="4070257" y="25360"/>
                <a:ext cx="3199925" cy="369332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JSON – Occupancy grid maze</a:t>
                </a:r>
                <a:endParaRPr lang="nl-NL" b="1" dirty="0"/>
              </a:p>
            </p:txBody>
          </p:sp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BF7C47BD-8A8A-676C-363D-57F78CD91A52}"/>
                  </a:ext>
                </a:extLst>
              </p:cNvPr>
              <p:cNvGrpSpPr/>
              <p:nvPr/>
            </p:nvGrpSpPr>
            <p:grpSpPr>
              <a:xfrm>
                <a:off x="12303064" y="1689074"/>
                <a:ext cx="3947160" cy="1292662"/>
                <a:chOff x="12386468" y="2787769"/>
                <a:chExt cx="3947160" cy="1292662"/>
              </a:xfrm>
              <a:grpFill/>
            </p:grpSpPr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CD96FAEA-B382-631F-EA2A-97E25B5F8997}"/>
                    </a:ext>
                  </a:extLst>
                </p:cNvPr>
                <p:cNvSpPr txBox="1"/>
                <p:nvPr/>
              </p:nvSpPr>
              <p:spPr>
                <a:xfrm>
                  <a:off x="12386468" y="3157101"/>
                  <a:ext cx="3947160" cy="923330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r>
                    <a:rPr lang="nl-NL" dirty="0"/>
                    <a:t>&lt;|0-0|&gt; &lt;|uprightleft_wall|&gt; &lt;|origin|&gt;</a:t>
                  </a:r>
                </a:p>
                <a:p>
                  <a:r>
                    <a:rPr lang="nl-NL" dirty="0"/>
                    <a:t>&lt;|0-1|&gt; &lt;|updownleft_wall|&gt; …</a:t>
                  </a:r>
                </a:p>
                <a:p>
                  <a:r>
                    <a:rPr lang="nl-NL" dirty="0"/>
                    <a:t>&lt;|2-2|&gt; &lt;|downright_wall|&gt; &lt;|target|&gt;</a:t>
                  </a:r>
                </a:p>
              </p:txBody>
            </p:sp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A0A94696-60C7-8BE7-F58A-A371BDDC8EF3}"/>
                    </a:ext>
                  </a:extLst>
                </p:cNvPr>
                <p:cNvSpPr txBox="1"/>
                <p:nvPr/>
              </p:nvSpPr>
              <p:spPr>
                <a:xfrm>
                  <a:off x="12696983" y="2787769"/>
                  <a:ext cx="3326130" cy="369332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b="1" dirty="0"/>
                    <a:t>Tokenized – Line-walled maze</a:t>
                  </a:r>
                  <a:endParaRPr lang="nl-NL" b="1" dirty="0"/>
                </a:p>
              </p:txBody>
            </p:sp>
          </p:grpSp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E87FF44C-8A24-94FA-5EC5-F074BBF3062A}"/>
                  </a:ext>
                </a:extLst>
              </p:cNvPr>
              <p:cNvGrpSpPr/>
              <p:nvPr/>
            </p:nvGrpSpPr>
            <p:grpSpPr>
              <a:xfrm>
                <a:off x="12014872" y="3351068"/>
                <a:ext cx="4764405" cy="1292662"/>
                <a:chOff x="9075420" y="10521818"/>
                <a:chExt cx="4764405" cy="1292662"/>
              </a:xfrm>
              <a:grpFill/>
            </p:grpSpPr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C484049-13EC-F0BE-F75D-C0B79CEE9B14}"/>
                    </a:ext>
                  </a:extLst>
                </p:cNvPr>
                <p:cNvSpPr txBox="1"/>
                <p:nvPr/>
              </p:nvSpPr>
              <p:spPr>
                <a:xfrm>
                  <a:off x="9075420" y="10891150"/>
                  <a:ext cx="4764405" cy="923330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r>
                    <a:rPr lang="nl-NL" dirty="0"/>
                    <a:t>&lt;|0-0|&gt; &lt;|occupied_wall|&gt; … &lt;|1-1|&gt; &lt;|origin|&gt;</a:t>
                  </a:r>
                </a:p>
                <a:p>
                  <a:r>
                    <a:rPr lang="nl-NL" dirty="0"/>
                    <a:t> &lt;|1-2|&gt; &lt;|occupied_wall|&gt; &lt;|1-3|&gt; &lt;|blank|&gt; …</a:t>
                  </a:r>
                </a:p>
                <a:p>
                  <a:r>
                    <a:rPr lang="nl-NL" dirty="0"/>
                    <a:t> &lt;|5-5|&gt; &lt;|target|&gt; … &lt;|6-6|&gt; &lt;|occupied_wall|&gt;</a:t>
                  </a:r>
                </a:p>
              </p:txBody>
            </p:sp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74F88F24-D553-6732-B40A-9005DF069946}"/>
                    </a:ext>
                  </a:extLst>
                </p:cNvPr>
                <p:cNvSpPr txBox="1"/>
                <p:nvPr/>
              </p:nvSpPr>
              <p:spPr>
                <a:xfrm>
                  <a:off x="9561188" y="10521818"/>
                  <a:ext cx="3792868" cy="369332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b="1" dirty="0"/>
                    <a:t>Tokenized – Occupancy grid maze</a:t>
                  </a:r>
                  <a:endParaRPr lang="nl-NL" b="1" dirty="0"/>
                </a:p>
              </p:txBody>
            </p:sp>
          </p:grpSp>
          <p:pic>
            <p:nvPicPr>
              <p:cNvPr id="14" name="Picture 13" descr="A group of black symbols&#10;&#10;AI-generated content may be incorrect.">
                <a:extLst>
                  <a:ext uri="{FF2B5EF4-FFF2-40B4-BE49-F238E27FC236}">
                    <a16:creationId xmlns:a16="http://schemas.microsoft.com/office/drawing/2014/main" id="{8A43B3BF-79EE-487B-560B-C9EA04AA880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3676922" y="5353592"/>
                <a:ext cx="1224372" cy="2332137"/>
              </a:xfrm>
              <a:prstGeom prst="rect">
                <a:avLst/>
              </a:prstGeom>
              <a:grpFill/>
            </p:spPr>
          </p:pic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FC42B1D-1820-031D-D78A-DD2205CC7B28}"/>
                  </a:ext>
                </a:extLst>
              </p:cNvPr>
              <p:cNvSpPr txBox="1"/>
              <p:nvPr/>
            </p:nvSpPr>
            <p:spPr>
              <a:xfrm>
                <a:off x="12380210" y="4984260"/>
                <a:ext cx="3792868" cy="369332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ASCII – Occupancy grid maze</a:t>
                </a:r>
                <a:endParaRPr lang="nl-NL" b="1" dirty="0"/>
              </a:p>
            </p:txBody>
          </p: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C7516601-6AA6-B970-2773-720203D845A2}"/>
                  </a:ext>
                </a:extLst>
              </p:cNvPr>
              <p:cNvGrpSpPr/>
              <p:nvPr/>
            </p:nvGrpSpPr>
            <p:grpSpPr>
              <a:xfrm>
                <a:off x="11529104" y="25360"/>
                <a:ext cx="5495081" cy="1294382"/>
                <a:chOff x="11366940" y="28967"/>
                <a:chExt cx="5495081" cy="1294382"/>
              </a:xfrm>
              <a:grpFill/>
            </p:grpSpPr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9E50F631-EC10-2B00-7C70-3FF47BBD193A}"/>
                    </a:ext>
                  </a:extLst>
                </p:cNvPr>
                <p:cNvSpPr txBox="1"/>
                <p:nvPr/>
              </p:nvSpPr>
              <p:spPr>
                <a:xfrm>
                  <a:off x="11366940" y="400019"/>
                  <a:ext cx="5495081" cy="923330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r>
                    <a:rPr lang="nl-NL" dirty="0"/>
                    <a:t>&lt;ADJLIST_START&gt; (1,1) &lt;–&gt; (2,1) ; … (5,4) &lt;–&gt; (5,5) &lt;ADJLIST_END&gt; &lt;ORIGIN_START&gt;(1,1)&lt;ORIGIN_END&gt; &lt;TARGET_START&gt;(5,5)&lt;TARGET_END&gt; </a:t>
                  </a:r>
                </a:p>
              </p:txBody>
            </p:sp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47BC646-A8DE-B4DB-3CBC-B97C580AF9B0}"/>
                    </a:ext>
                  </a:extLst>
                </p:cNvPr>
                <p:cNvSpPr txBox="1"/>
                <p:nvPr/>
              </p:nvSpPr>
              <p:spPr>
                <a:xfrm>
                  <a:off x="11852708" y="28967"/>
                  <a:ext cx="4523544" cy="369332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b="1" dirty="0"/>
                    <a:t>Adjacency list text – Both maze styles</a:t>
                  </a:r>
                  <a:endParaRPr lang="nl-NL" b="1" dirty="0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2362680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35DE1-6288-C542-88ED-A4A185AB7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7E808DF2-CCEF-C3DF-5FE0-7FECB91BBD18}"/>
              </a:ext>
            </a:extLst>
          </p:cNvPr>
          <p:cNvSpPr/>
          <p:nvPr/>
        </p:nvSpPr>
        <p:spPr>
          <a:xfrm>
            <a:off x="-1" y="-11377"/>
            <a:ext cx="17024185" cy="770364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1CF8945-EE92-441D-D713-3C5F2EB4EE90}"/>
              </a:ext>
            </a:extLst>
          </p:cNvPr>
          <p:cNvSpPr txBox="1"/>
          <p:nvPr/>
        </p:nvSpPr>
        <p:spPr>
          <a:xfrm>
            <a:off x="0" y="394693"/>
            <a:ext cx="4082889" cy="725959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"size"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"columns"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3,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"rows"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3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},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"start"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0,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0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"end"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2,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2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"grid"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"walls"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"N"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nl-NL" sz="1800" dirty="0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"E"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nl-NL" sz="1800" dirty="0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nl-NL" sz="1800" dirty="0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"W"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nl-NL" sz="1800" dirty="0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endParaRPr lang="nl-NL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}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},</a:t>
            </a:r>
          </a:p>
          <a:p>
            <a:endParaRPr lang="nl-NL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nl-NL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nl-NL" sz="1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D223BC-B585-6BA6-D171-928C796616F9}"/>
              </a:ext>
            </a:extLst>
          </p:cNvPr>
          <p:cNvSpPr txBox="1"/>
          <p:nvPr/>
        </p:nvSpPr>
        <p:spPr>
          <a:xfrm>
            <a:off x="344048" y="27146"/>
            <a:ext cx="276606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JSON – Line-walled maze</a:t>
            </a:r>
            <a:endParaRPr lang="nl-NL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C1B755-8E25-8A06-571A-A83F03D616C6}"/>
              </a:ext>
            </a:extLst>
          </p:cNvPr>
          <p:cNvSpPr txBox="1"/>
          <p:nvPr/>
        </p:nvSpPr>
        <p:spPr>
          <a:xfrm>
            <a:off x="7282815" y="391424"/>
            <a:ext cx="3524250" cy="72943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"size"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"columns"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3,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"rows"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3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},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"start"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0,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0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"end"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2,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2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"grid"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"node"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0,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0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"neighbors"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0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]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]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},</a:t>
            </a:r>
            <a:endParaRPr lang="nl-NL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B7BC84-56E5-44C5-57D7-8CC35322F2E5}"/>
              </a:ext>
            </a:extLst>
          </p:cNvPr>
          <p:cNvSpPr txBox="1"/>
          <p:nvPr/>
        </p:nvSpPr>
        <p:spPr>
          <a:xfrm>
            <a:off x="7270182" y="25360"/>
            <a:ext cx="426339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Adjacency list JSON – Both maze styles</a:t>
            </a:r>
            <a:endParaRPr lang="nl-NL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A85DF3D-9359-D289-F353-7A4E7056D582}"/>
              </a:ext>
            </a:extLst>
          </p:cNvPr>
          <p:cNvSpPr txBox="1"/>
          <p:nvPr/>
        </p:nvSpPr>
        <p:spPr>
          <a:xfrm>
            <a:off x="4082889" y="391424"/>
            <a:ext cx="3199926" cy="72943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"size"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"columns"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7,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"rows"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7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},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"start"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1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"end"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5,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5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"grid"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1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],</a:t>
            </a:r>
          </a:p>
          <a:p>
            <a:endParaRPr lang="nl-NL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nl-NL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nl-NL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5D80C2-6A4D-27B9-89CD-55AB8640ECF7}"/>
              </a:ext>
            </a:extLst>
          </p:cNvPr>
          <p:cNvSpPr txBox="1"/>
          <p:nvPr/>
        </p:nvSpPr>
        <p:spPr>
          <a:xfrm>
            <a:off x="4070257" y="25360"/>
            <a:ext cx="319992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JSON – Occupancy grid maze</a:t>
            </a:r>
            <a:endParaRPr lang="nl-NL" b="1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576F593-2530-ACCA-01A2-6F5DD1FF8EB9}"/>
              </a:ext>
            </a:extLst>
          </p:cNvPr>
          <p:cNvGrpSpPr/>
          <p:nvPr/>
        </p:nvGrpSpPr>
        <p:grpSpPr>
          <a:xfrm>
            <a:off x="12303064" y="1689074"/>
            <a:ext cx="3947160" cy="1292662"/>
            <a:chOff x="12386468" y="2787769"/>
            <a:chExt cx="3947160" cy="1292662"/>
          </a:xfrm>
          <a:solidFill>
            <a:schemeClr val="bg1"/>
          </a:solidFill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E8AA519-3D7E-F106-D1C5-477D4C79BD09}"/>
                </a:ext>
              </a:extLst>
            </p:cNvPr>
            <p:cNvSpPr txBox="1"/>
            <p:nvPr/>
          </p:nvSpPr>
          <p:spPr>
            <a:xfrm>
              <a:off x="12386468" y="3157101"/>
              <a:ext cx="3947160" cy="92333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nl-NL" dirty="0"/>
                <a:t>&lt;|0-0|&gt; &lt;|uprightleft_wall|&gt; &lt;|origin|&gt;</a:t>
              </a:r>
            </a:p>
            <a:p>
              <a:r>
                <a:rPr lang="nl-NL" dirty="0"/>
                <a:t>&lt;|0-1|&gt; &lt;|updownleft_wall|&gt; …</a:t>
              </a:r>
            </a:p>
            <a:p>
              <a:r>
                <a:rPr lang="nl-NL" dirty="0"/>
                <a:t>&lt;|2-2|&gt; &lt;|downright_wall|&gt; &lt;|target|&gt;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E880138-F093-B25C-F0D0-998162FD408D}"/>
                </a:ext>
              </a:extLst>
            </p:cNvPr>
            <p:cNvSpPr txBox="1"/>
            <p:nvPr/>
          </p:nvSpPr>
          <p:spPr>
            <a:xfrm>
              <a:off x="12696983" y="2787769"/>
              <a:ext cx="3326130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Tokenized – Line-walled maze</a:t>
              </a:r>
              <a:endParaRPr lang="nl-NL" b="1" dirty="0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65D7B92-9AD6-8027-F7D8-26E7D6E24865}"/>
              </a:ext>
            </a:extLst>
          </p:cNvPr>
          <p:cNvGrpSpPr/>
          <p:nvPr/>
        </p:nvGrpSpPr>
        <p:grpSpPr>
          <a:xfrm>
            <a:off x="12014872" y="3351068"/>
            <a:ext cx="4764405" cy="1292662"/>
            <a:chOff x="9075420" y="10521818"/>
            <a:chExt cx="4764405" cy="1292662"/>
          </a:xfrm>
          <a:solidFill>
            <a:schemeClr val="bg1"/>
          </a:solidFill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57B741D-02F8-8BBB-E1AE-6A0E478D25F4}"/>
                </a:ext>
              </a:extLst>
            </p:cNvPr>
            <p:cNvSpPr txBox="1"/>
            <p:nvPr/>
          </p:nvSpPr>
          <p:spPr>
            <a:xfrm>
              <a:off x="9075420" y="10891150"/>
              <a:ext cx="4764405" cy="92333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nl-NL" dirty="0"/>
                <a:t>&lt;|0-0|&gt; &lt;|occupied_wall|&gt; … &lt;|1-1|&gt; &lt;|origin|&gt;</a:t>
              </a:r>
            </a:p>
            <a:p>
              <a:r>
                <a:rPr lang="nl-NL" dirty="0"/>
                <a:t> &lt;|1-2|&gt; &lt;|occupied_wall|&gt; &lt;|1-3|&gt; &lt;|blank|&gt; …</a:t>
              </a:r>
            </a:p>
            <a:p>
              <a:r>
                <a:rPr lang="nl-NL" dirty="0"/>
                <a:t> &lt;|5-5|&gt; &lt;|target|&gt; … &lt;|6-6|&gt; &lt;|occupied_wall|&gt;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8F086C1-8F8C-BA89-9784-CBE67C1D2F66}"/>
                </a:ext>
              </a:extLst>
            </p:cNvPr>
            <p:cNvSpPr txBox="1"/>
            <p:nvPr/>
          </p:nvSpPr>
          <p:spPr>
            <a:xfrm>
              <a:off x="9561188" y="10521818"/>
              <a:ext cx="3792868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Tokenized – Occupancy grid maze</a:t>
              </a:r>
              <a:endParaRPr lang="nl-NL" b="1" dirty="0"/>
            </a:p>
          </p:txBody>
        </p:sp>
      </p:grpSp>
      <p:pic>
        <p:nvPicPr>
          <p:cNvPr id="14" name="Picture 13" descr="A group of black symbols&#10;&#10;AI-generated content may be incorrect.">
            <a:extLst>
              <a:ext uri="{FF2B5EF4-FFF2-40B4-BE49-F238E27FC236}">
                <a16:creationId xmlns:a16="http://schemas.microsoft.com/office/drawing/2014/main" id="{1BC7645F-9A46-24FA-4505-F57655F47E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76922" y="5353592"/>
            <a:ext cx="1224372" cy="2332137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7644CB0-A6A8-5723-DA02-E68A8FBC115F}"/>
              </a:ext>
            </a:extLst>
          </p:cNvPr>
          <p:cNvSpPr txBox="1"/>
          <p:nvPr/>
        </p:nvSpPr>
        <p:spPr>
          <a:xfrm>
            <a:off x="12380210" y="4984260"/>
            <a:ext cx="379286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ASCII – Occupancy grid maze</a:t>
            </a:r>
            <a:endParaRPr lang="nl-NL" b="1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7EF99C10-AF2E-7AF1-C886-5DE5D275A566}"/>
              </a:ext>
            </a:extLst>
          </p:cNvPr>
          <p:cNvGrpSpPr/>
          <p:nvPr/>
        </p:nvGrpSpPr>
        <p:grpSpPr>
          <a:xfrm>
            <a:off x="11529104" y="25360"/>
            <a:ext cx="5495081" cy="1294382"/>
            <a:chOff x="11366940" y="28967"/>
            <a:chExt cx="5495081" cy="1294382"/>
          </a:xfrm>
          <a:solidFill>
            <a:schemeClr val="bg1"/>
          </a:solidFill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FA97FA0-A0D6-C3AD-B8D1-D2363E474672}"/>
                </a:ext>
              </a:extLst>
            </p:cNvPr>
            <p:cNvSpPr txBox="1"/>
            <p:nvPr/>
          </p:nvSpPr>
          <p:spPr>
            <a:xfrm>
              <a:off x="11366940" y="400019"/>
              <a:ext cx="5495081" cy="92333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nl-NL" dirty="0"/>
                <a:t>&lt;ADJLIST_START&gt; (1,1) &lt;–&gt; (2,1) ; … (5,4) &lt;–&gt; (5,5) &lt;ADJLIST_END&gt; &lt;ORIGIN_START&gt;(1,1)&lt;ORIGIN_END&gt; &lt;TARGET_START&gt;(5,5)&lt;TARGET_END&gt; 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A85206C-30B9-8819-FD90-92127EEDC12B}"/>
                </a:ext>
              </a:extLst>
            </p:cNvPr>
            <p:cNvSpPr txBox="1"/>
            <p:nvPr/>
          </p:nvSpPr>
          <p:spPr>
            <a:xfrm>
              <a:off x="11852708" y="28967"/>
              <a:ext cx="4523544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Adjacency list text – Both maze styles</a:t>
              </a:r>
              <a:endParaRPr lang="nl-NL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9591071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BA10FA23-D1FB-DBD3-8AE5-EC1555CE694C}"/>
              </a:ext>
            </a:extLst>
          </p:cNvPr>
          <p:cNvGrpSpPr/>
          <p:nvPr/>
        </p:nvGrpSpPr>
        <p:grpSpPr>
          <a:xfrm>
            <a:off x="-1904999" y="-264778"/>
            <a:ext cx="22387559" cy="15147234"/>
            <a:chOff x="-1904999" y="-1100471"/>
            <a:chExt cx="22387559" cy="15147234"/>
          </a:xfrm>
        </p:grpSpPr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A5D46F4C-9C97-1A89-9B8C-D42C2B47C0EA}"/>
                </a:ext>
              </a:extLst>
            </p:cNvPr>
            <p:cNvGrpSpPr/>
            <p:nvPr/>
          </p:nvGrpSpPr>
          <p:grpSpPr>
            <a:xfrm>
              <a:off x="-1904999" y="-1100471"/>
              <a:ext cx="22387559" cy="15147234"/>
              <a:chOff x="-2133599" y="-1100471"/>
              <a:chExt cx="21617351" cy="15147234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185D54F-5517-1FC6-67B1-191F952A3C6D}"/>
                  </a:ext>
                </a:extLst>
              </p:cNvPr>
              <p:cNvSpPr/>
              <p:nvPr/>
            </p:nvSpPr>
            <p:spPr>
              <a:xfrm>
                <a:off x="-2133599" y="-1097280"/>
                <a:ext cx="21617351" cy="1513680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dirty="0"/>
              </a:p>
            </p:txBody>
          </p: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6D152437-1E0A-54CB-4FB5-5A6FE7F33D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-1508760" y="-1097280"/>
                <a:ext cx="0" cy="15136808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0246E872-EB40-1CC1-C8FC-36906CAFD3A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40720" y="-1097280"/>
                <a:ext cx="0" cy="15136808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70B46D49-F941-6691-D570-5EABD8DD17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33529" y="-1097280"/>
                <a:ext cx="0" cy="15136808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C86C0388-1A55-7C1B-3018-D0192062912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27698" y="-1097280"/>
                <a:ext cx="0" cy="15136808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08D5FC5A-0BDF-1C30-D8B0-1F4069A9F7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177581" y="-1090045"/>
                <a:ext cx="0" cy="15136808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7F7A2DFE-222C-B811-FBF1-116306E3BFF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-2133599" y="-635615"/>
                <a:ext cx="21617351" cy="885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694C0817-FF3F-2811-201F-011612BCFD1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-2133599" y="6702492"/>
                <a:ext cx="21617351" cy="40521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86D04D0-46CE-AB82-0FC0-6DCF2A04371B}"/>
                  </a:ext>
                </a:extLst>
              </p:cNvPr>
              <p:cNvSpPr txBox="1"/>
              <p:nvPr/>
            </p:nvSpPr>
            <p:spPr>
              <a:xfrm rot="16200000">
                <a:off x="-3453982" y="2380446"/>
                <a:ext cx="326560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/>
                  <a:t>Line-Walled Maze</a:t>
                </a:r>
                <a:endParaRPr lang="nl-NL" sz="2400" b="1" dirty="0"/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F408063-1910-02CD-1480-CDBAE9CDCADD}"/>
                  </a:ext>
                </a:extLst>
              </p:cNvPr>
              <p:cNvSpPr txBox="1"/>
              <p:nvPr/>
            </p:nvSpPr>
            <p:spPr>
              <a:xfrm rot="16200000">
                <a:off x="-3666417" y="9888589"/>
                <a:ext cx="369047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/>
                  <a:t>Occupancy Grid Maze</a:t>
                </a:r>
                <a:endParaRPr lang="nl-NL" sz="2400" b="1" dirty="0"/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C19CC43-F19C-ADAA-AC46-27E8A5F85F29}"/>
                  </a:ext>
                </a:extLst>
              </p:cNvPr>
              <p:cNvSpPr txBox="1"/>
              <p:nvPr/>
            </p:nvSpPr>
            <p:spPr>
              <a:xfrm>
                <a:off x="-262678" y="-1085232"/>
                <a:ext cx="101111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/>
                  <a:t>JSON</a:t>
                </a:r>
                <a:endParaRPr lang="nl-NL" sz="2400" b="1" dirty="0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D91046D-136B-DED4-636F-27F90E2553B1}"/>
                  </a:ext>
                </a:extLst>
              </p:cNvPr>
              <p:cNvSpPr txBox="1"/>
              <p:nvPr/>
            </p:nvSpPr>
            <p:spPr>
              <a:xfrm>
                <a:off x="2634095" y="-1078535"/>
                <a:ext cx="263573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/>
                  <a:t>Adjacency List JSON</a:t>
                </a:r>
                <a:endParaRPr lang="nl-NL" sz="2400" b="1" dirty="0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C0D92E9-F8A8-EA55-F46D-FD39110C625F}"/>
                  </a:ext>
                </a:extLst>
              </p:cNvPr>
              <p:cNvSpPr txBox="1"/>
              <p:nvPr/>
            </p:nvSpPr>
            <p:spPr>
              <a:xfrm>
                <a:off x="6293379" y="-1100471"/>
                <a:ext cx="280280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/>
                  <a:t>Adjacency List Text</a:t>
                </a:r>
                <a:endParaRPr lang="nl-NL" sz="2400" b="1" dirty="0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36373C8-B4EA-A7CC-297B-6590AB9D6E11}"/>
                  </a:ext>
                </a:extLst>
              </p:cNvPr>
              <p:cNvSpPr txBox="1"/>
              <p:nvPr/>
            </p:nvSpPr>
            <p:spPr>
              <a:xfrm>
                <a:off x="10753088" y="-1055687"/>
                <a:ext cx="163090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/>
                  <a:t>Tokenized</a:t>
                </a:r>
                <a:endParaRPr lang="nl-NL" sz="2400" b="1" dirty="0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92FB5FC7-D6C3-1846-FB9F-1E8E46B75B33}"/>
                  </a:ext>
                </a:extLst>
              </p:cNvPr>
              <p:cNvSpPr txBox="1"/>
              <p:nvPr/>
            </p:nvSpPr>
            <p:spPr>
              <a:xfrm>
                <a:off x="14746530" y="-1092852"/>
                <a:ext cx="101478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/>
                  <a:t>ASCII</a:t>
                </a:r>
                <a:endParaRPr lang="nl-NL" sz="2400" b="1" dirty="0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530156-43DD-B789-F69B-618A70AC31D6}"/>
                  </a:ext>
                </a:extLst>
              </p:cNvPr>
              <p:cNvSpPr txBox="1"/>
              <p:nvPr/>
            </p:nvSpPr>
            <p:spPr>
              <a:xfrm>
                <a:off x="-1470074" y="-620375"/>
                <a:ext cx="4082889" cy="646330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"size"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"columns"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3,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"rows"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3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},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"start"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0,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0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],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"end"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2,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2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],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"grid"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"walls"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"N"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</a:t>
                </a:r>
                <a:r>
                  <a:rPr lang="nl-NL" sz="1800" dirty="0">
                    <a:solidFill>
                      <a:srgbClr val="0000FF"/>
                    </a:solidFill>
                    <a:latin typeface="Consolas" panose="020B0609020204030204" pitchFamily="49" charset="0"/>
                  </a:rPr>
                  <a:t>true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"E"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</a:t>
                </a:r>
                <a:r>
                  <a:rPr lang="nl-NL" sz="1800" dirty="0">
                    <a:solidFill>
                      <a:srgbClr val="0000FF"/>
                    </a:solidFill>
                    <a:latin typeface="Consolas" panose="020B0609020204030204" pitchFamily="49" charset="0"/>
                  </a:rPr>
                  <a:t>true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</a:t>
                </a:r>
                <a:r>
                  <a:rPr lang="nl-NL" sz="1800" dirty="0">
                    <a:solidFill>
                      <a:srgbClr val="0000FF"/>
                    </a:solidFill>
                    <a:latin typeface="Consolas" panose="020B0609020204030204" pitchFamily="49" charset="0"/>
                  </a:rPr>
                  <a:t>false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"W"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</a:t>
                </a:r>
                <a:r>
                  <a:rPr lang="nl-NL" sz="1800" dirty="0">
                    <a:solidFill>
                      <a:srgbClr val="0000FF"/>
                    </a:solidFill>
                    <a:latin typeface="Consolas" panose="020B0609020204030204" pitchFamily="49" charset="0"/>
                  </a:rPr>
                  <a:t>true</a:t>
                </a:r>
                <a:endParaRPr lang="nl-NL" sz="1800" dirty="0">
                  <a:solidFill>
                    <a:srgbClr val="000000"/>
                  </a:solidFill>
                  <a:latin typeface="Consolas" panose="020B0609020204030204" pitchFamily="49" charset="0"/>
                </a:endParaRP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}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},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5B7EB7A1-8AD3-035D-ADD1-31D00F496A7F}"/>
                  </a:ext>
                </a:extLst>
              </p:cNvPr>
              <p:cNvSpPr txBox="1"/>
              <p:nvPr/>
            </p:nvSpPr>
            <p:spPr>
              <a:xfrm>
                <a:off x="-1357077" y="6743016"/>
                <a:ext cx="3199910" cy="646330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"size"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"columns"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7,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"rows"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7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},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"start"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1,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1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],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"end"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5,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5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],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"grid"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1,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1,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1,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1,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1,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1,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1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],</a:t>
                </a: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1DB475F0-21D2-CF7F-04E7-AF2793E25D3E}"/>
                  </a:ext>
                </a:extLst>
              </p:cNvPr>
              <p:cNvSpPr txBox="1"/>
              <p:nvPr/>
            </p:nvSpPr>
            <p:spPr>
              <a:xfrm>
                <a:off x="2189836" y="-591813"/>
                <a:ext cx="3524250" cy="729430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"size"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"columns"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3,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"rows"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3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},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"start"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0,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0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],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"end"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2,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2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],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"grid"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"node"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0,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0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],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"neighbors"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    1,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    0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]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]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},</a:t>
                </a:r>
                <a:endParaRPr lang="nl-NL" dirty="0"/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1CC9AC4B-5E26-AAFB-F5A3-FD191A71CE50}"/>
                  </a:ext>
                </a:extLst>
              </p:cNvPr>
              <p:cNvSpPr txBox="1"/>
              <p:nvPr/>
            </p:nvSpPr>
            <p:spPr>
              <a:xfrm>
                <a:off x="2189836" y="6745224"/>
                <a:ext cx="3524250" cy="729430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"size"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"columns"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3,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"rows"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3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},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"start"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0,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0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],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"end"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2,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2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],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"grid"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"node"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0,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0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],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"neighbors"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    1,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    0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]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]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},</a:t>
                </a:r>
                <a:endParaRPr lang="nl-NL" dirty="0"/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B90BCC3-4EBF-5B6A-8BB0-60922A6DE331}"/>
                  </a:ext>
                </a:extLst>
              </p:cNvPr>
              <p:cNvSpPr txBox="1"/>
              <p:nvPr/>
            </p:nvSpPr>
            <p:spPr>
              <a:xfrm>
                <a:off x="5765687" y="-489425"/>
                <a:ext cx="3832544" cy="120032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r>
                  <a:rPr lang="nl-NL" dirty="0"/>
                  <a:t>&lt;ADJLIST_START&gt; (1,1) &lt;–&gt; (2,1) ; </a:t>
                </a:r>
              </a:p>
              <a:p>
                <a:r>
                  <a:rPr lang="nl-NL" dirty="0"/>
                  <a:t>… (5,4) &lt;–&gt; (5,5) &lt;ADJLIST_END&gt; &lt;ORIGIN_START&gt;(1,1)&lt;ORIGIN_END&gt; &lt;TARGET_START&gt;(5,5)&lt;TARGET_END&gt; </a:t>
                </a:r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FA0966B-9554-AC0D-A14F-F3D4A18603BE}"/>
                  </a:ext>
                </a:extLst>
              </p:cNvPr>
              <p:cNvSpPr txBox="1"/>
              <p:nvPr/>
            </p:nvSpPr>
            <p:spPr>
              <a:xfrm>
                <a:off x="5764650" y="6858000"/>
                <a:ext cx="3833581" cy="120032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r>
                  <a:rPr lang="nl-NL" dirty="0"/>
                  <a:t>&lt;ADJLIST_START&gt; (1,1) &lt;–&gt; (2,1) ;</a:t>
                </a:r>
              </a:p>
              <a:p>
                <a:r>
                  <a:rPr lang="nl-NL" dirty="0"/>
                  <a:t>… (5,4) &lt;–&gt; (5,5) &lt;ADJLIST_END&gt; &lt;ORIGIN_START&gt;(1,1)&lt;ORIGIN_END&gt; &lt;TARGET_START&gt;(5,5)&lt;TARGET_END&gt; </a:t>
                </a:r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0D81E1E2-695D-6B34-B08D-BE1F3D30CAF6}"/>
                  </a:ext>
                </a:extLst>
              </p:cNvPr>
              <p:cNvSpPr txBox="1"/>
              <p:nvPr/>
            </p:nvSpPr>
            <p:spPr>
              <a:xfrm>
                <a:off x="9700173" y="-461665"/>
                <a:ext cx="3947160" cy="92333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r>
                  <a:rPr lang="nl-NL" dirty="0"/>
                  <a:t>&lt;|0-0|&gt; &lt;|uprightleft_wall|&gt; &lt;|origin|&gt;</a:t>
                </a:r>
              </a:p>
              <a:p>
                <a:r>
                  <a:rPr lang="nl-NL" dirty="0"/>
                  <a:t>&lt;|0-1|&gt; &lt;|updownleft_wall|&gt; …</a:t>
                </a:r>
              </a:p>
              <a:p>
                <a:r>
                  <a:rPr lang="nl-NL" dirty="0"/>
                  <a:t>&lt;|2-2|&gt; &lt;|downright_wall|&gt; &lt;|target|&gt;</a:t>
                </a:r>
              </a:p>
            </p:txBody>
          </p:sp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903C0DDA-35F5-5FFB-DC2D-5A8043A29F66}"/>
                  </a:ext>
                </a:extLst>
              </p:cNvPr>
              <p:cNvSpPr txBox="1"/>
              <p:nvPr/>
            </p:nvSpPr>
            <p:spPr>
              <a:xfrm>
                <a:off x="9700173" y="6996499"/>
                <a:ext cx="4764405" cy="92333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r>
                  <a:rPr lang="nl-NL" dirty="0"/>
                  <a:t>&lt;|0-0|&gt; &lt;|occupied_wall|&gt; … &lt;|1-1|&gt; &lt;|origin|&gt;</a:t>
                </a:r>
              </a:p>
              <a:p>
                <a:r>
                  <a:rPr lang="nl-NL" dirty="0"/>
                  <a:t> &lt;|1-2|&gt; &lt;|occupied_wall|&gt; &lt;|1-3|&gt; &lt;|blank|&gt; …</a:t>
                </a:r>
              </a:p>
              <a:p>
                <a:r>
                  <a:rPr lang="nl-NL" dirty="0"/>
                  <a:t> &lt;|5-5|&gt; &lt;|target|&gt; … &lt;|6-6|&gt; &lt;|occupied_wall|&gt;</a:t>
                </a:r>
              </a:p>
            </p:txBody>
          </p:sp>
          <p:pic>
            <p:nvPicPr>
              <p:cNvPr id="67" name="Picture 66" descr="A group of black symbols&#10;&#10;AI-generated content may be incorrect.">
                <a:extLst>
                  <a:ext uri="{FF2B5EF4-FFF2-40B4-BE49-F238E27FC236}">
                    <a16:creationId xmlns:a16="http://schemas.microsoft.com/office/drawing/2014/main" id="{67B5820D-6267-0491-66F9-52FEF3E767C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4608662" y="6979920"/>
                <a:ext cx="1290522" cy="2458136"/>
              </a:xfrm>
              <a:prstGeom prst="rect">
                <a:avLst/>
              </a:prstGeom>
              <a:solidFill>
                <a:schemeClr val="bg1"/>
              </a:solidFill>
            </p:spPr>
          </p:pic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CB99F56F-0D81-00BE-8535-79EB376C41A9}"/>
                  </a:ext>
                </a:extLst>
              </p:cNvPr>
              <p:cNvSpPr txBox="1"/>
              <p:nvPr/>
            </p:nvSpPr>
            <p:spPr>
              <a:xfrm>
                <a:off x="14912872" y="-502583"/>
                <a:ext cx="82786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None</a:t>
                </a:r>
                <a:endParaRPr lang="nl-NL" dirty="0"/>
              </a:p>
            </p:txBody>
          </p:sp>
        </p:grpSp>
        <p:cxnSp>
          <p:nvCxnSpPr>
            <p:cNvPr id="2" name="Straight Connector 1">
              <a:extLst>
                <a:ext uri="{FF2B5EF4-FFF2-40B4-BE49-F238E27FC236}">
                  <a16:creationId xmlns:a16="http://schemas.microsoft.com/office/drawing/2014/main" id="{7D80BF05-B608-4D83-8194-8AA52A9D7EB9}"/>
                </a:ext>
              </a:extLst>
            </p:cNvPr>
            <p:cNvCxnSpPr>
              <a:cxnSpLocks/>
            </p:cNvCxnSpPr>
            <p:nvPr/>
          </p:nvCxnSpPr>
          <p:spPr>
            <a:xfrm>
              <a:off x="15145458" y="-1090050"/>
              <a:ext cx="0" cy="1513680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C727A802-9551-3D6F-AD7C-22425756FE41}"/>
                </a:ext>
              </a:extLst>
            </p:cNvPr>
            <p:cNvSpPr txBox="1"/>
            <p:nvPr/>
          </p:nvSpPr>
          <p:spPr>
            <a:xfrm>
              <a:off x="18341412" y="-1097281"/>
              <a:ext cx="87701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/>
                <a:t>JPG</a:t>
              </a:r>
              <a:endParaRPr lang="nl-NL" sz="2400" b="1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5C6AC8F4-537B-A777-1148-5EDAF287AB9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292980" y="-555910"/>
              <a:ext cx="2955193" cy="2955193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92A05701-C45E-0CE2-109F-A452D860918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525"/>
            <a:stretch>
              <a:fillRect/>
            </a:stretch>
          </p:blipFill>
          <p:spPr>
            <a:xfrm>
              <a:off x="17302320" y="6845267"/>
              <a:ext cx="2955202" cy="285102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418785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</TotalTime>
  <Words>1975</Words>
  <Application>Microsoft Office PowerPoint</Application>
  <PresentationFormat>Widescreen</PresentationFormat>
  <Paragraphs>445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Valérie van Noesel</dc:creator>
  <cp:lastModifiedBy>Valérie van Noesel</cp:lastModifiedBy>
  <cp:revision>4</cp:revision>
  <dcterms:created xsi:type="dcterms:W3CDTF">2025-12-11T16:10:58Z</dcterms:created>
  <dcterms:modified xsi:type="dcterms:W3CDTF">2026-03-09T11:09:12Z</dcterms:modified>
</cp:coreProperties>
</file>